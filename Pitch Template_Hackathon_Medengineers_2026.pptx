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Anton"/>
      <p:regular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89tTgvZWIisL11G6c7cRYhDyI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customschemas.google.com/relationships/presentationmetadata" Target="meta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Anton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ormative.jmir.org/2025/1/e64936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21% no-show rate</a:t>
            </a:r>
            <a:r>
              <a:rPr lang="en-US" sz="1200">
                <a:solidFill>
                  <a:schemeClr val="dk1"/>
                </a:solidFill>
              </a:rPr>
              <a:t> was reported in Emirates Health Services primary healthcare centers, which manage over </a:t>
            </a:r>
            <a:r>
              <a:rPr lang="en-US">
                <a:solidFill>
                  <a:schemeClr val="dk1"/>
                </a:solidFill>
              </a:rPr>
              <a:t>140,000 visits monthly</a:t>
            </a:r>
            <a:br>
              <a:rPr lang="en-US"/>
            </a:br>
            <a:r>
              <a:rPr lang="en-US" u="sng">
                <a:solidFill>
                  <a:schemeClr val="hlink"/>
                </a:solidFill>
                <a:hlinkClick r:id="rId2"/>
              </a:rPr>
              <a:t>https://formative.jmir.org/2025/1/e64936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 sz="1050">
                <a:solidFill>
                  <a:srgbClr val="1A254C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, which can lead to an estimated 3%-14% revenue loss</a:t>
            </a:r>
            <a:endParaRPr sz="1050">
              <a:solidFill>
                <a:srgbClr val="1A254C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254C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 a UAE study of </a:t>
            </a:r>
            <a:r>
              <a:rPr b="1" lang="en-US">
                <a:solidFill>
                  <a:schemeClr val="dk1"/>
                </a:solidFill>
              </a:rPr>
              <a:t>2,100 residents aged ≥40</a:t>
            </a:r>
            <a:r>
              <a:rPr lang="en-US" sz="1200">
                <a:solidFill>
                  <a:schemeClr val="dk1"/>
                </a:solidFill>
              </a:rPr>
              <a:t>, colorectal cancer screening uptake was only </a:t>
            </a:r>
            <a:r>
              <a:rPr b="1" lang="en-US">
                <a:solidFill>
                  <a:schemeClr val="dk1"/>
                </a:solidFill>
              </a:rPr>
              <a:t>9.1%</a:t>
            </a:r>
            <a:endParaRPr sz="1050">
              <a:solidFill>
                <a:srgbClr val="1A254C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3961cab0_6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43961cab0_6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43a6fa99a_12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43a6fa99a_1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43a6fa99a_1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43a6fa99a_12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43a6fa99a_1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43a6fa99a_1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43a6fa99a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e43a6fa99a_1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43a6fa99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e43a6fa99a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10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1" Type="http://schemas.openxmlformats.org/officeDocument/2006/relationships/image" Target="../media/image15.png"/><Relationship Id="rId10" Type="http://schemas.openxmlformats.org/officeDocument/2006/relationships/image" Target="../media/image12.png"/><Relationship Id="rId12" Type="http://schemas.openxmlformats.org/officeDocument/2006/relationships/image" Target="../media/image14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1" Type="http://schemas.openxmlformats.org/officeDocument/2006/relationships/image" Target="../media/image19.png"/><Relationship Id="rId10" Type="http://schemas.openxmlformats.org/officeDocument/2006/relationships/image" Target="../media/image22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1" Type="http://schemas.openxmlformats.org/officeDocument/2006/relationships/image" Target="../media/image20.png"/><Relationship Id="rId10" Type="http://schemas.openxmlformats.org/officeDocument/2006/relationships/image" Target="../media/image23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0" Type="http://schemas.openxmlformats.org/officeDocument/2006/relationships/image" Target="../media/image17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A3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flipH="1" rot="-3666610">
            <a:off x="-1070052" y="1180031"/>
            <a:ext cx="5762018" cy="4006641"/>
          </a:xfrm>
          <a:custGeom>
            <a:rect b="b" l="l" r="r" t="t"/>
            <a:pathLst>
              <a:path extrusionOk="0" h="4006641" w="5762018">
                <a:moveTo>
                  <a:pt x="0" y="4006641"/>
                </a:moveTo>
                <a:lnTo>
                  <a:pt x="5762018" y="4006641"/>
                </a:lnTo>
                <a:lnTo>
                  <a:pt x="5762018" y="0"/>
                </a:lnTo>
                <a:lnTo>
                  <a:pt x="0" y="0"/>
                </a:lnTo>
                <a:lnTo>
                  <a:pt x="0" y="400664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322" l="0" r="0" t="-13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" name="Google Shape;85;p1"/>
          <p:cNvGrpSpPr/>
          <p:nvPr/>
        </p:nvGrpSpPr>
        <p:grpSpPr>
          <a:xfrm>
            <a:off x="-103858" y="-393937"/>
            <a:ext cx="18495717" cy="1291980"/>
            <a:chOff x="0" y="-57150"/>
            <a:chExt cx="4871300" cy="340275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4871300" cy="283125"/>
            </a:xfrm>
            <a:custGeom>
              <a:rect b="b" l="l" r="r" t="t"/>
              <a:pathLst>
                <a:path extrusionOk="0" h="283125" w="4871300">
                  <a:moveTo>
                    <a:pt x="0" y="0"/>
                  </a:moveTo>
                  <a:lnTo>
                    <a:pt x="4871300" y="0"/>
                  </a:lnTo>
                  <a:lnTo>
                    <a:pt x="4871300" y="283125"/>
                  </a:lnTo>
                  <a:lnTo>
                    <a:pt x="0" y="283125"/>
                  </a:lnTo>
                  <a:close/>
                </a:path>
              </a:pathLst>
            </a:custGeom>
            <a:solidFill>
              <a:srgbClr val="909EA8"/>
            </a:solidFill>
            <a:ln cap="sq" cmpd="sng" w="38100">
              <a:solidFill>
                <a:srgbClr val="9AA5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-57150"/>
              <a:ext cx="4871300" cy="340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57053" y="-36238"/>
            <a:ext cx="2492687" cy="1007184"/>
          </a:xfrm>
          <a:custGeom>
            <a:rect b="b" l="l" r="r" t="t"/>
            <a:pathLst>
              <a:path extrusionOk="0" h="1007184" w="2492687">
                <a:moveTo>
                  <a:pt x="0" y="0"/>
                </a:moveTo>
                <a:lnTo>
                  <a:pt x="2492687" y="0"/>
                </a:lnTo>
                <a:lnTo>
                  <a:pt x="2492687" y="1007184"/>
                </a:lnTo>
                <a:lnTo>
                  <a:pt x="0" y="1007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2402" l="0" r="0" t="-746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rot="8373075">
            <a:off x="12574156" y="5446213"/>
            <a:ext cx="6207764" cy="4430791"/>
          </a:xfrm>
          <a:custGeom>
            <a:rect b="b" l="l" r="r" t="t"/>
            <a:pathLst>
              <a:path extrusionOk="0" h="4430791" w="6207764">
                <a:moveTo>
                  <a:pt x="0" y="0"/>
                </a:moveTo>
                <a:lnTo>
                  <a:pt x="6207764" y="0"/>
                </a:lnTo>
                <a:lnTo>
                  <a:pt x="6207764" y="4430792"/>
                </a:lnTo>
                <a:lnTo>
                  <a:pt x="0" y="4430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1878748" y="5998589"/>
            <a:ext cx="6721523" cy="3604383"/>
          </a:xfrm>
          <a:custGeom>
            <a:rect b="b" l="l" r="r" t="t"/>
            <a:pathLst>
              <a:path extrusionOk="0" h="3604383" w="6721523">
                <a:moveTo>
                  <a:pt x="0" y="0"/>
                </a:moveTo>
                <a:lnTo>
                  <a:pt x="6721523" y="0"/>
                </a:lnTo>
                <a:lnTo>
                  <a:pt x="6721523" y="3604383"/>
                </a:lnTo>
                <a:lnTo>
                  <a:pt x="0" y="36043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341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 flipH="1" rot="-450663">
            <a:off x="7273" y="929935"/>
            <a:ext cx="4132494" cy="3451627"/>
          </a:xfrm>
          <a:custGeom>
            <a:rect b="b" l="l" r="r" t="t"/>
            <a:pathLst>
              <a:path extrusionOk="0" h="3451627" w="4132494">
                <a:moveTo>
                  <a:pt x="4132494" y="0"/>
                </a:moveTo>
                <a:lnTo>
                  <a:pt x="0" y="0"/>
                </a:lnTo>
                <a:lnTo>
                  <a:pt x="0" y="3451627"/>
                </a:lnTo>
                <a:lnTo>
                  <a:pt x="4132494" y="3451627"/>
                </a:lnTo>
                <a:lnTo>
                  <a:pt x="4132494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72180" l="-78971" r="0" t="-16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1"/>
          <p:cNvGrpSpPr/>
          <p:nvPr/>
        </p:nvGrpSpPr>
        <p:grpSpPr>
          <a:xfrm>
            <a:off x="4029425" y="2310075"/>
            <a:ext cx="10505925" cy="1382120"/>
            <a:chOff x="-2883968" y="270721"/>
            <a:chExt cx="14007900" cy="1842827"/>
          </a:xfrm>
        </p:grpSpPr>
        <p:sp>
          <p:nvSpPr>
            <p:cNvPr id="93" name="Google Shape;93;p1"/>
            <p:cNvSpPr txBox="1"/>
            <p:nvPr/>
          </p:nvSpPr>
          <p:spPr>
            <a:xfrm rot="28364">
              <a:off x="5837459" y="1582690"/>
              <a:ext cx="1999868" cy="522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81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  <a:endParaRPr/>
            </a:p>
          </p:txBody>
        </p:sp>
        <p:sp>
          <p:nvSpPr>
            <p:cNvPr id="94" name="Google Shape;94;p1"/>
            <p:cNvSpPr txBox="1"/>
            <p:nvPr/>
          </p:nvSpPr>
          <p:spPr>
            <a:xfrm rot="28368">
              <a:off x="185814" y="1554859"/>
              <a:ext cx="2181374" cy="391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1" algn="ctr">
                <a:lnSpc>
                  <a:spcPct val="81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2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ميد إنجينيرز</a:t>
              </a:r>
              <a:endParaRPr/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-2883968" y="270721"/>
              <a:ext cx="14007900" cy="149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81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65">
                  <a:solidFill>
                    <a:srgbClr val="FCFCFC"/>
                  </a:solidFill>
                  <a:latin typeface="Arial"/>
                  <a:ea typeface="Arial"/>
                  <a:cs typeface="Arial"/>
                  <a:sym typeface="Arial"/>
                </a:rPr>
                <a:t>MED</a:t>
              </a:r>
              <a:r>
                <a:rPr lang="en-US" sz="8865">
                  <a:solidFill>
                    <a:srgbClr val="107B8B"/>
                  </a:solidFill>
                  <a:latin typeface="Arial"/>
                  <a:ea typeface="Arial"/>
                  <a:cs typeface="Arial"/>
                  <a:sym typeface="Arial"/>
                </a:rPr>
                <a:t>ENGINEERS</a:t>
              </a:r>
              <a:endParaRPr/>
            </a:p>
          </p:txBody>
        </p:sp>
      </p:grpSp>
      <p:sp>
        <p:nvSpPr>
          <p:cNvPr id="96" name="Google Shape;96;p1"/>
          <p:cNvSpPr/>
          <p:nvPr/>
        </p:nvSpPr>
        <p:spPr>
          <a:xfrm rot="5305161">
            <a:off x="-520701" y="5638955"/>
            <a:ext cx="4591565" cy="4884644"/>
          </a:xfrm>
          <a:custGeom>
            <a:rect b="b" l="l" r="r" t="t"/>
            <a:pathLst>
              <a:path extrusionOk="0" h="4884644" w="4591565">
                <a:moveTo>
                  <a:pt x="0" y="0"/>
                </a:moveTo>
                <a:lnTo>
                  <a:pt x="4591566" y="0"/>
                </a:lnTo>
                <a:lnTo>
                  <a:pt x="4591566" y="4884644"/>
                </a:lnTo>
                <a:lnTo>
                  <a:pt x="0" y="4884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6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402555" y="102562"/>
            <a:ext cx="2184385" cy="795480"/>
          </a:xfrm>
          <a:custGeom>
            <a:rect b="b" l="l" r="r" t="t"/>
            <a:pathLst>
              <a:path extrusionOk="0" h="795480" w="2184385">
                <a:moveTo>
                  <a:pt x="0" y="0"/>
                </a:moveTo>
                <a:lnTo>
                  <a:pt x="2184385" y="0"/>
                </a:lnTo>
                <a:lnTo>
                  <a:pt x="2184385" y="795481"/>
                </a:lnTo>
                <a:lnTo>
                  <a:pt x="0" y="795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"/>
          <p:cNvGrpSpPr/>
          <p:nvPr/>
        </p:nvGrpSpPr>
        <p:grpSpPr>
          <a:xfrm>
            <a:off x="6939171" y="-136751"/>
            <a:ext cx="4686450" cy="1107697"/>
            <a:chOff x="0" y="0"/>
            <a:chExt cx="6248599" cy="1476929"/>
          </a:xfrm>
        </p:grpSpPr>
        <p:sp>
          <p:nvSpPr>
            <p:cNvPr id="99" name="Google Shape;99;p1"/>
            <p:cNvSpPr/>
            <p:nvPr/>
          </p:nvSpPr>
          <p:spPr>
            <a:xfrm>
              <a:off x="2104885" y="268004"/>
              <a:ext cx="4143714" cy="1102456"/>
            </a:xfrm>
            <a:custGeom>
              <a:rect b="b" l="l" r="r" t="t"/>
              <a:pathLst>
                <a:path extrusionOk="0" h="1102456" w="4143714">
                  <a:moveTo>
                    <a:pt x="0" y="0"/>
                  </a:moveTo>
                  <a:lnTo>
                    <a:pt x="4143713" y="0"/>
                  </a:lnTo>
                  <a:lnTo>
                    <a:pt x="4143713" y="1102456"/>
                  </a:lnTo>
                  <a:lnTo>
                    <a:pt x="0" y="11024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11941" l="-57458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0" y="0"/>
              <a:ext cx="2104885" cy="1476929"/>
            </a:xfrm>
            <a:custGeom>
              <a:rect b="b" l="l" r="r" t="t"/>
              <a:pathLst>
                <a:path extrusionOk="0" h="1476929" w="2104885">
                  <a:moveTo>
                    <a:pt x="0" y="0"/>
                  </a:moveTo>
                  <a:lnTo>
                    <a:pt x="2104885" y="0"/>
                  </a:lnTo>
                  <a:lnTo>
                    <a:pt x="2104885" y="1476929"/>
                  </a:lnTo>
                  <a:lnTo>
                    <a:pt x="0" y="14769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-59755" l="0" r="-2144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1"/>
          <p:cNvSpPr txBox="1"/>
          <p:nvPr/>
        </p:nvSpPr>
        <p:spPr>
          <a:xfrm>
            <a:off x="4519255" y="4253643"/>
            <a:ext cx="9249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1">
                <a:solidFill>
                  <a:srgbClr val="E9E9E9"/>
                </a:solidFill>
                <a:latin typeface="Anton"/>
                <a:ea typeface="Anton"/>
                <a:cs typeface="Anton"/>
                <a:sym typeface="Anton"/>
              </a:rPr>
              <a:t>WeqayahToken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6990387" y="9117126"/>
            <a:ext cx="42840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4">
                <a:solidFill>
                  <a:srgbClr val="E9E9E9"/>
                </a:solidFill>
                <a:latin typeface="Anton"/>
                <a:ea typeface="Anton"/>
                <a:cs typeface="Anton"/>
                <a:sym typeface="Anton"/>
              </a:rPr>
              <a:t>(14)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3817437" y="6355750"/>
            <a:ext cx="10929900" cy="12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Incentivized Preventative Care</a:t>
            </a:r>
            <a:endParaRPr sz="4200">
              <a:solidFill>
                <a:srgbClr val="E9E9E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Muhammad Abir, Muhammed Rehan, Rushada Zoya, </a:t>
            </a:r>
            <a:r>
              <a:rPr lang="en-US" sz="2000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Salman Alshehhi, </a:t>
            </a:r>
            <a:r>
              <a:rPr lang="en-US" sz="2000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Shrreya jain</a:t>
            </a:r>
            <a:endParaRPr sz="2000">
              <a:solidFill>
                <a:srgbClr val="E9E9E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7370175" y="8454186"/>
            <a:ext cx="369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Code Yellow</a:t>
            </a:r>
            <a:endParaRPr/>
          </a:p>
        </p:txBody>
      </p:sp>
      <p:cxnSp>
        <p:nvCxnSpPr>
          <p:cNvPr id="105" name="Google Shape;105;p1"/>
          <p:cNvCxnSpPr/>
          <p:nvPr/>
        </p:nvCxnSpPr>
        <p:spPr>
          <a:xfrm>
            <a:off x="5886252" y="6074342"/>
            <a:ext cx="64923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-103858" y="-393939"/>
            <a:ext cx="18496219" cy="1291990"/>
            <a:chOff x="0" y="-57150"/>
            <a:chExt cx="4871400" cy="340275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4871300" cy="283125"/>
            </a:xfrm>
            <a:custGeom>
              <a:rect b="b" l="l" r="r" t="t"/>
              <a:pathLst>
                <a:path extrusionOk="0" h="283125" w="4871300">
                  <a:moveTo>
                    <a:pt x="0" y="0"/>
                  </a:moveTo>
                  <a:lnTo>
                    <a:pt x="4871300" y="0"/>
                  </a:lnTo>
                  <a:lnTo>
                    <a:pt x="4871300" y="283125"/>
                  </a:lnTo>
                  <a:lnTo>
                    <a:pt x="0" y="283125"/>
                  </a:lnTo>
                  <a:close/>
                </a:path>
              </a:pathLst>
            </a:custGeom>
            <a:solidFill>
              <a:srgbClr val="909EA8"/>
            </a:solidFill>
            <a:ln cap="sq" cmpd="sng" w="38100">
              <a:solidFill>
                <a:srgbClr val="9AA5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0" y="-57150"/>
              <a:ext cx="48714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157053" y="-36238"/>
            <a:ext cx="2492687" cy="1007184"/>
          </a:xfrm>
          <a:custGeom>
            <a:rect b="b" l="l" r="r" t="t"/>
            <a:pathLst>
              <a:path extrusionOk="0" h="1007184" w="2492687">
                <a:moveTo>
                  <a:pt x="0" y="0"/>
                </a:moveTo>
                <a:lnTo>
                  <a:pt x="2492687" y="0"/>
                </a:lnTo>
                <a:lnTo>
                  <a:pt x="2492687" y="1007184"/>
                </a:lnTo>
                <a:lnTo>
                  <a:pt x="0" y="1007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2402" l="0" r="0" t="-746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5402555" y="102562"/>
            <a:ext cx="2184385" cy="795480"/>
          </a:xfrm>
          <a:custGeom>
            <a:rect b="b" l="l" r="r" t="t"/>
            <a:pathLst>
              <a:path extrusionOk="0" h="795480" w="2184385">
                <a:moveTo>
                  <a:pt x="0" y="0"/>
                </a:moveTo>
                <a:lnTo>
                  <a:pt x="2184385" y="0"/>
                </a:lnTo>
                <a:lnTo>
                  <a:pt x="2184385" y="795481"/>
                </a:lnTo>
                <a:lnTo>
                  <a:pt x="0" y="795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2"/>
          <p:cNvGrpSpPr/>
          <p:nvPr/>
        </p:nvGrpSpPr>
        <p:grpSpPr>
          <a:xfrm>
            <a:off x="6939171" y="-136751"/>
            <a:ext cx="4686449" cy="1107697"/>
            <a:chOff x="0" y="0"/>
            <a:chExt cx="6248599" cy="1476929"/>
          </a:xfrm>
        </p:grpSpPr>
        <p:sp>
          <p:nvSpPr>
            <p:cNvPr id="116" name="Google Shape;116;p2"/>
            <p:cNvSpPr/>
            <p:nvPr/>
          </p:nvSpPr>
          <p:spPr>
            <a:xfrm>
              <a:off x="2104885" y="268004"/>
              <a:ext cx="4143714" cy="1102456"/>
            </a:xfrm>
            <a:custGeom>
              <a:rect b="b" l="l" r="r" t="t"/>
              <a:pathLst>
                <a:path extrusionOk="0" h="1102456" w="4143714">
                  <a:moveTo>
                    <a:pt x="0" y="0"/>
                  </a:moveTo>
                  <a:lnTo>
                    <a:pt x="4143713" y="0"/>
                  </a:lnTo>
                  <a:lnTo>
                    <a:pt x="4143713" y="1102456"/>
                  </a:lnTo>
                  <a:lnTo>
                    <a:pt x="0" y="11024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11941" l="-57458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0" y="0"/>
              <a:ext cx="2104885" cy="1476929"/>
            </a:xfrm>
            <a:custGeom>
              <a:rect b="b" l="l" r="r" t="t"/>
              <a:pathLst>
                <a:path extrusionOk="0" h="1476929" w="2104885">
                  <a:moveTo>
                    <a:pt x="0" y="0"/>
                  </a:moveTo>
                  <a:lnTo>
                    <a:pt x="2104885" y="0"/>
                  </a:lnTo>
                  <a:lnTo>
                    <a:pt x="2104885" y="1476929"/>
                  </a:lnTo>
                  <a:lnTo>
                    <a:pt x="0" y="14769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59755" l="0" r="-2144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2"/>
          <p:cNvSpPr txBox="1"/>
          <p:nvPr/>
        </p:nvSpPr>
        <p:spPr>
          <a:xfrm>
            <a:off x="762000" y="3048000"/>
            <a:ext cx="8572500" cy="598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D966"/>
                </a:solidFill>
                <a:latin typeface="Montserrat"/>
                <a:ea typeface="Montserrat"/>
                <a:cs typeface="Montserrat"/>
                <a:sym typeface="Montserrat"/>
              </a:rPr>
              <a:t>WeqayahToken</a:t>
            </a:r>
            <a:r>
              <a:rPr b="1" lang="en-US" sz="2200">
                <a:solidFill>
                  <a:srgbClr val="107B8B"/>
                </a:solidFill>
                <a:latin typeface="Montserrat"/>
                <a:ea typeface="Montserrat"/>
                <a:cs typeface="Montserrat"/>
                <a:sym typeface="Montserrat"/>
              </a:rPr>
              <a:t> motivates patients to complete recommended preventive checkups, screenings, and follow-up appointments by issuing verified health tokens after attendance is confirmed.</a:t>
            </a:r>
            <a:endParaRPr b="1" sz="2200">
              <a:solidFill>
                <a:srgbClr val="107B8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07B8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verified</a:t>
            </a:r>
            <a:endParaRPr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Verified rewards for completed care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0B0B5"/>
                </a:solidFill>
                <a:latin typeface="Montserrat"/>
                <a:ea typeface="Montserrat"/>
                <a:cs typeface="Montserrat"/>
                <a:sym typeface="Montserrat"/>
              </a:rPr>
              <a:t>Not just reminders, but tangible incentives for attendance.</a:t>
            </a:r>
            <a:endParaRPr sz="1600">
              <a:solidFill>
                <a:srgbClr val="A0B0B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07B8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monetization_on</a:t>
            </a:r>
            <a:endParaRPr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Earn tokens after attendance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0B0B5"/>
                </a:solidFill>
                <a:latin typeface="Montserrat"/>
                <a:ea typeface="Montserrat"/>
                <a:cs typeface="Montserrat"/>
                <a:sym typeface="Montserrat"/>
              </a:rPr>
              <a:t>Issued after eligible checkups, screenings, or follow-up visits.</a:t>
            </a:r>
            <a:endParaRPr sz="1600">
              <a:solidFill>
                <a:srgbClr val="A0B0B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07B8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redeem</a:t>
            </a:r>
            <a:endParaRPr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Redeemable benefits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0B0B5"/>
                </a:solidFill>
                <a:latin typeface="Montserrat"/>
                <a:ea typeface="Montserrat"/>
                <a:cs typeface="Montserrat"/>
                <a:sym typeface="Montserrat"/>
              </a:rPr>
              <a:t>Wellness vouchers, transport/parking, pharmacy products, or insurance credits.</a:t>
            </a:r>
            <a:endParaRPr sz="1600">
              <a:solidFill>
                <a:srgbClr val="A0B0B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07B8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location_on</a:t>
            </a:r>
            <a:endParaRPr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Pilot Focus: UAE Primary Care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0B0B5"/>
                </a:solidFill>
                <a:latin typeface="Montserrat"/>
                <a:ea typeface="Montserrat"/>
                <a:cs typeface="Montserrat"/>
                <a:sym typeface="Montserrat"/>
              </a:rPr>
              <a:t>Focusing on outpatient patients due for preventive screening or follow-up.</a:t>
            </a:r>
            <a:endParaRPr sz="1600">
              <a:solidFill>
                <a:srgbClr val="A0B0B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762000" y="1524000"/>
            <a:ext cx="5715000" cy="94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120">
                <a:solidFill>
                  <a:srgbClr val="FCFCFC"/>
                </a:solidFill>
                <a:latin typeface="Anton"/>
                <a:ea typeface="Anton"/>
                <a:cs typeface="Anton"/>
                <a:sym typeface="Anton"/>
              </a:rPr>
              <a:t>PROJECT VISION</a:t>
            </a:r>
            <a:endParaRPr b="0" sz="6120">
              <a:solidFill>
                <a:srgbClr val="FCFCFC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0668000" y="2667000"/>
            <a:ext cx="6096000" cy="6096000"/>
          </a:xfrm>
          <a:prstGeom prst="roundRect">
            <a:avLst>
              <a:gd fmla="val 3125" name="adj"/>
            </a:avLst>
          </a:prstGeom>
          <a:solidFill>
            <a:srgbClr val="031F27">
              <a:alpha val="60000"/>
            </a:srgbClr>
          </a:solidFill>
          <a:ln cap="flat" cmpd="sng" w="19050">
            <a:solidFill>
              <a:srgbClr val="107B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667999" y="2667000"/>
            <a:ext cx="6096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10668000" y="2647800"/>
            <a:ext cx="207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7B8B"/>
                </a:solidFill>
                <a:latin typeface="Calibri"/>
                <a:ea typeface="Calibri"/>
                <a:cs typeface="Calibri"/>
                <a:sym typeface="Calibri"/>
              </a:rPr>
              <a:t>Ai generated image</a:t>
            </a:r>
            <a:endParaRPr>
              <a:solidFill>
                <a:srgbClr val="107B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2D38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 rot="-5494839">
            <a:off x="14254528" y="262316"/>
            <a:ext cx="4234663" cy="4504960"/>
          </a:xfrm>
          <a:custGeom>
            <a:rect b="b" l="l" r="r" t="t"/>
            <a:pathLst>
              <a:path extrusionOk="0" h="4504960" w="4234663">
                <a:moveTo>
                  <a:pt x="4234663" y="4504960"/>
                </a:moveTo>
                <a:lnTo>
                  <a:pt x="0" y="4504960"/>
                </a:lnTo>
                <a:lnTo>
                  <a:pt x="0" y="0"/>
                </a:lnTo>
                <a:lnTo>
                  <a:pt x="4234663" y="0"/>
                </a:lnTo>
                <a:lnTo>
                  <a:pt x="4234663" y="4504960"/>
                </a:lnTo>
                <a:close/>
              </a:path>
            </a:pathLst>
          </a:custGeom>
          <a:blipFill rotWithShape="1">
            <a:blip r:embed="rId3">
              <a:alphaModFix amt="6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 rot="-918794">
            <a:off x="14149451" y="7672056"/>
            <a:ext cx="4444817" cy="3172488"/>
          </a:xfrm>
          <a:custGeom>
            <a:rect b="b" l="l" r="r" t="t"/>
            <a:pathLst>
              <a:path extrusionOk="0" h="3172488" w="4444817">
                <a:moveTo>
                  <a:pt x="4444817" y="3172488"/>
                </a:moveTo>
                <a:lnTo>
                  <a:pt x="0" y="3172488"/>
                </a:lnTo>
                <a:lnTo>
                  <a:pt x="0" y="0"/>
                </a:lnTo>
                <a:lnTo>
                  <a:pt x="4444817" y="0"/>
                </a:lnTo>
                <a:lnTo>
                  <a:pt x="4444817" y="317248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 flipH="1" rot="-3666610">
            <a:off x="-1095053" y="916046"/>
            <a:ext cx="5927197" cy="4230537"/>
          </a:xfrm>
          <a:custGeom>
            <a:rect b="b" l="l" r="r" t="t"/>
            <a:pathLst>
              <a:path extrusionOk="0" h="4230537" w="5927197">
                <a:moveTo>
                  <a:pt x="0" y="4230537"/>
                </a:moveTo>
                <a:lnTo>
                  <a:pt x="5927197" y="4230537"/>
                </a:lnTo>
                <a:lnTo>
                  <a:pt x="5927197" y="0"/>
                </a:lnTo>
                <a:lnTo>
                  <a:pt x="0" y="0"/>
                </a:lnTo>
                <a:lnTo>
                  <a:pt x="0" y="4230537"/>
                </a:lnTo>
                <a:close/>
              </a:path>
            </a:pathLst>
          </a:custGeom>
          <a:blipFill rotWithShape="1">
            <a:blip r:embed="rId4">
              <a:alphaModFix amt="71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 rot="5305486">
            <a:off x="-428481" y="5655321"/>
            <a:ext cx="4732219" cy="5034276"/>
          </a:xfrm>
          <a:custGeom>
            <a:rect b="b" l="l" r="r" t="t"/>
            <a:pathLst>
              <a:path extrusionOk="0" h="5032373" w="4730431">
                <a:moveTo>
                  <a:pt x="0" y="0"/>
                </a:moveTo>
                <a:lnTo>
                  <a:pt x="4730430" y="0"/>
                </a:lnTo>
                <a:lnTo>
                  <a:pt x="4730430" y="5032374"/>
                </a:lnTo>
                <a:lnTo>
                  <a:pt x="0" y="5032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p3"/>
          <p:cNvGrpSpPr/>
          <p:nvPr/>
        </p:nvGrpSpPr>
        <p:grpSpPr>
          <a:xfrm>
            <a:off x="331935" y="2900538"/>
            <a:ext cx="11418668" cy="6828728"/>
            <a:chOff x="0" y="-57150"/>
            <a:chExt cx="3007386" cy="1798513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3007386" cy="1741363"/>
            </a:xfrm>
            <a:custGeom>
              <a:rect b="b" l="l" r="r" t="t"/>
              <a:pathLst>
                <a:path extrusionOk="0" h="1741363" w="3007386">
                  <a:moveTo>
                    <a:pt x="34578" y="0"/>
                  </a:moveTo>
                  <a:lnTo>
                    <a:pt x="2972807" y="0"/>
                  </a:lnTo>
                  <a:cubicBezTo>
                    <a:pt x="2981978" y="0"/>
                    <a:pt x="2990773" y="3643"/>
                    <a:pt x="2997258" y="10128"/>
                  </a:cubicBezTo>
                  <a:cubicBezTo>
                    <a:pt x="3003743" y="16612"/>
                    <a:pt x="3007386" y="25408"/>
                    <a:pt x="3007386" y="34578"/>
                  </a:cubicBezTo>
                  <a:lnTo>
                    <a:pt x="3007386" y="1706785"/>
                  </a:lnTo>
                  <a:cubicBezTo>
                    <a:pt x="3007386" y="1715955"/>
                    <a:pt x="3003743" y="1724751"/>
                    <a:pt x="2997258" y="1731235"/>
                  </a:cubicBezTo>
                  <a:cubicBezTo>
                    <a:pt x="2990773" y="1737720"/>
                    <a:pt x="2981978" y="1741363"/>
                    <a:pt x="2972807" y="1741363"/>
                  </a:cubicBezTo>
                  <a:lnTo>
                    <a:pt x="34578" y="1741363"/>
                  </a:lnTo>
                  <a:cubicBezTo>
                    <a:pt x="15481" y="1741363"/>
                    <a:pt x="0" y="1725882"/>
                    <a:pt x="0" y="1706785"/>
                  </a:cubicBezTo>
                  <a:lnTo>
                    <a:pt x="0" y="34578"/>
                  </a:lnTo>
                  <a:cubicBezTo>
                    <a:pt x="0" y="25408"/>
                    <a:pt x="3643" y="16612"/>
                    <a:pt x="10128" y="10128"/>
                  </a:cubicBezTo>
                  <a:cubicBezTo>
                    <a:pt x="16612" y="3643"/>
                    <a:pt x="25408" y="0"/>
                    <a:pt x="34578" y="0"/>
                  </a:cubicBezTo>
                  <a:close/>
                </a:path>
              </a:pathLst>
            </a:custGeom>
            <a:solidFill>
              <a:srgbClr val="031F27">
                <a:alpha val="4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0" y="-57150"/>
              <a:ext cx="3007386" cy="17985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3"/>
          <p:cNvSpPr txBox="1"/>
          <p:nvPr/>
        </p:nvSpPr>
        <p:spPr>
          <a:xfrm>
            <a:off x="503521" y="3210580"/>
            <a:ext cx="107307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Preventive services exist, but patients often miss appointments or do not complete recommended screening and follow-up. This wastes clinic capacity and delays early detection of disease.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-392048" y="1675692"/>
            <a:ext cx="10381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E9E9E9"/>
                </a:solidFill>
                <a:latin typeface="Anton"/>
                <a:ea typeface="Anton"/>
                <a:cs typeface="Anton"/>
                <a:sym typeface="Anton"/>
              </a:rPr>
              <a:t>THE CLINICAL PROBLEM</a:t>
            </a:r>
            <a:endParaRPr/>
          </a:p>
        </p:txBody>
      </p:sp>
      <p:grpSp>
        <p:nvGrpSpPr>
          <p:cNvPr id="136" name="Google Shape;136;p3"/>
          <p:cNvGrpSpPr/>
          <p:nvPr/>
        </p:nvGrpSpPr>
        <p:grpSpPr>
          <a:xfrm>
            <a:off x="-103858" y="-393937"/>
            <a:ext cx="18495717" cy="1291980"/>
            <a:chOff x="0" y="-57150"/>
            <a:chExt cx="4871300" cy="340275"/>
          </a:xfrm>
        </p:grpSpPr>
        <p:sp>
          <p:nvSpPr>
            <p:cNvPr id="137" name="Google Shape;137;p3"/>
            <p:cNvSpPr/>
            <p:nvPr/>
          </p:nvSpPr>
          <p:spPr>
            <a:xfrm>
              <a:off x="0" y="0"/>
              <a:ext cx="4871300" cy="283125"/>
            </a:xfrm>
            <a:custGeom>
              <a:rect b="b" l="l" r="r" t="t"/>
              <a:pathLst>
                <a:path extrusionOk="0" h="283125" w="4871300">
                  <a:moveTo>
                    <a:pt x="0" y="0"/>
                  </a:moveTo>
                  <a:lnTo>
                    <a:pt x="4871300" y="0"/>
                  </a:lnTo>
                  <a:lnTo>
                    <a:pt x="4871300" y="283125"/>
                  </a:lnTo>
                  <a:lnTo>
                    <a:pt x="0" y="283125"/>
                  </a:lnTo>
                  <a:close/>
                </a:path>
              </a:pathLst>
            </a:custGeom>
            <a:solidFill>
              <a:srgbClr val="909EA8"/>
            </a:solidFill>
            <a:ln cap="sq" cmpd="sng" w="38100">
              <a:solidFill>
                <a:srgbClr val="9AA5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3"/>
            <p:cNvSpPr txBox="1"/>
            <p:nvPr/>
          </p:nvSpPr>
          <p:spPr>
            <a:xfrm>
              <a:off x="0" y="-57150"/>
              <a:ext cx="4871300" cy="340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3"/>
          <p:cNvSpPr/>
          <p:nvPr/>
        </p:nvSpPr>
        <p:spPr>
          <a:xfrm>
            <a:off x="157053" y="-36238"/>
            <a:ext cx="2492687" cy="1007184"/>
          </a:xfrm>
          <a:custGeom>
            <a:rect b="b" l="l" r="r" t="t"/>
            <a:pathLst>
              <a:path extrusionOk="0" h="1007184" w="2492687">
                <a:moveTo>
                  <a:pt x="0" y="0"/>
                </a:moveTo>
                <a:lnTo>
                  <a:pt x="2492687" y="0"/>
                </a:lnTo>
                <a:lnTo>
                  <a:pt x="2492687" y="1007184"/>
                </a:lnTo>
                <a:lnTo>
                  <a:pt x="0" y="1007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82402" l="0" r="0" t="-746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15402555" y="102562"/>
            <a:ext cx="2184385" cy="795480"/>
          </a:xfrm>
          <a:custGeom>
            <a:rect b="b" l="l" r="r" t="t"/>
            <a:pathLst>
              <a:path extrusionOk="0" h="795480" w="2184385">
                <a:moveTo>
                  <a:pt x="0" y="0"/>
                </a:moveTo>
                <a:lnTo>
                  <a:pt x="2184385" y="0"/>
                </a:lnTo>
                <a:lnTo>
                  <a:pt x="2184385" y="795481"/>
                </a:lnTo>
                <a:lnTo>
                  <a:pt x="0" y="795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3"/>
          <p:cNvGrpSpPr/>
          <p:nvPr/>
        </p:nvGrpSpPr>
        <p:grpSpPr>
          <a:xfrm>
            <a:off x="6939171" y="-136751"/>
            <a:ext cx="4686450" cy="1107697"/>
            <a:chOff x="0" y="0"/>
            <a:chExt cx="6248599" cy="1476929"/>
          </a:xfrm>
        </p:grpSpPr>
        <p:sp>
          <p:nvSpPr>
            <p:cNvPr id="142" name="Google Shape;142;p3"/>
            <p:cNvSpPr/>
            <p:nvPr/>
          </p:nvSpPr>
          <p:spPr>
            <a:xfrm>
              <a:off x="2104885" y="268004"/>
              <a:ext cx="4143714" cy="1102456"/>
            </a:xfrm>
            <a:custGeom>
              <a:rect b="b" l="l" r="r" t="t"/>
              <a:pathLst>
                <a:path extrusionOk="0" h="1102456" w="4143714">
                  <a:moveTo>
                    <a:pt x="0" y="0"/>
                  </a:moveTo>
                  <a:lnTo>
                    <a:pt x="4143713" y="0"/>
                  </a:lnTo>
                  <a:lnTo>
                    <a:pt x="4143713" y="1102456"/>
                  </a:lnTo>
                  <a:lnTo>
                    <a:pt x="0" y="11024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11941" l="-57458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0" y="0"/>
              <a:ext cx="2104885" cy="1476929"/>
            </a:xfrm>
            <a:custGeom>
              <a:rect b="b" l="l" r="r" t="t"/>
              <a:pathLst>
                <a:path extrusionOk="0" h="1476929" w="2104885">
                  <a:moveTo>
                    <a:pt x="0" y="0"/>
                  </a:moveTo>
                  <a:lnTo>
                    <a:pt x="2104885" y="0"/>
                  </a:lnTo>
                  <a:lnTo>
                    <a:pt x="2104885" y="1476929"/>
                  </a:lnTo>
                  <a:lnTo>
                    <a:pt x="0" y="14769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59755" l="0" r="-2144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3"/>
          <p:cNvSpPr txBox="1"/>
          <p:nvPr/>
        </p:nvSpPr>
        <p:spPr>
          <a:xfrm>
            <a:off x="403275" y="4382388"/>
            <a:ext cx="11074800" cy="59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TARGET PATIENT POPULATION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Adults in UAE outpatient and primary-care settings eligible for preventive screening, annual checkups, or chronic disease follow-up, especially adults aged 40+ and senior citizens requiring repeated preventive care.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Consequences </a:t>
            </a:r>
            <a:endParaRPr sz="34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Delayed detection of preventable disease.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Missed chronic disease follow-up.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Wasted appointment slots and clinic resources.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Increased downstream healthcare burden.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Reduced long-term preventive-care adherence.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This challenge is especially relevant for senior citizens and caregivers, populations already recognized in UAE initiatives such as Barakatna.</a:t>
            </a:r>
            <a:endParaRPr b="1" sz="1900">
              <a:solidFill>
                <a:srgbClr val="FCFC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5" name="Google Shape;145;p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278425" y="3070256"/>
            <a:ext cx="5410577" cy="2112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294973" y="5430938"/>
            <a:ext cx="5410588" cy="211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294950" y="7791599"/>
            <a:ext cx="5410620" cy="21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/>
          <p:nvPr/>
        </p:nvSpPr>
        <p:spPr>
          <a:xfrm>
            <a:off x="16071450" y="9667000"/>
            <a:ext cx="207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7B8B"/>
                </a:solidFill>
                <a:latin typeface="Calibri"/>
                <a:ea typeface="Calibri"/>
                <a:cs typeface="Calibri"/>
                <a:sym typeface="Calibri"/>
              </a:rPr>
              <a:t>Ai generated image</a:t>
            </a:r>
            <a:endParaRPr>
              <a:solidFill>
                <a:srgbClr val="107B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3961cab0_6_4"/>
          <p:cNvSpPr/>
          <p:nvPr/>
        </p:nvSpPr>
        <p:spPr>
          <a:xfrm rot="-5494514">
            <a:off x="14254763" y="260848"/>
            <a:ext cx="4236264" cy="4506663"/>
          </a:xfrm>
          <a:custGeom>
            <a:rect b="b" l="l" r="r" t="t"/>
            <a:pathLst>
              <a:path extrusionOk="0" h="4504960" w="4234663">
                <a:moveTo>
                  <a:pt x="4234663" y="4504960"/>
                </a:moveTo>
                <a:lnTo>
                  <a:pt x="0" y="4504960"/>
                </a:lnTo>
                <a:lnTo>
                  <a:pt x="0" y="0"/>
                </a:lnTo>
                <a:lnTo>
                  <a:pt x="4234663" y="0"/>
                </a:lnTo>
                <a:lnTo>
                  <a:pt x="4234663" y="4504960"/>
                </a:lnTo>
                <a:close/>
              </a:path>
            </a:pathLst>
          </a:custGeom>
          <a:blipFill rotWithShape="1">
            <a:blip r:embed="rId4">
              <a:alphaModFix amt="6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e43961cab0_6_4"/>
          <p:cNvSpPr/>
          <p:nvPr/>
        </p:nvSpPr>
        <p:spPr>
          <a:xfrm rot="-921333">
            <a:off x="14150394" y="7669696"/>
            <a:ext cx="4448038" cy="3174787"/>
          </a:xfrm>
          <a:custGeom>
            <a:rect b="b" l="l" r="r" t="t"/>
            <a:pathLst>
              <a:path extrusionOk="0" h="3172488" w="4444817">
                <a:moveTo>
                  <a:pt x="4444817" y="3172488"/>
                </a:moveTo>
                <a:lnTo>
                  <a:pt x="0" y="3172488"/>
                </a:lnTo>
                <a:lnTo>
                  <a:pt x="0" y="0"/>
                </a:lnTo>
                <a:lnTo>
                  <a:pt x="4444817" y="0"/>
                </a:lnTo>
                <a:lnTo>
                  <a:pt x="4444817" y="3172488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e43961cab0_6_4"/>
          <p:cNvSpPr txBox="1"/>
          <p:nvPr/>
        </p:nvSpPr>
        <p:spPr>
          <a:xfrm>
            <a:off x="109875" y="9763625"/>
            <a:ext cx="207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7B8B"/>
                </a:solidFill>
                <a:latin typeface="Calibri"/>
                <a:ea typeface="Calibri"/>
                <a:cs typeface="Calibri"/>
                <a:sym typeface="Calibri"/>
              </a:rPr>
              <a:t>Ai generated image</a:t>
            </a:r>
            <a:endParaRPr>
              <a:solidFill>
                <a:srgbClr val="107B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e43a6fa99a_12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270"/>
            <a:ext cx="18288000" cy="1021555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e43a6fa99a_12_27"/>
          <p:cNvSpPr txBox="1"/>
          <p:nvPr/>
        </p:nvSpPr>
        <p:spPr>
          <a:xfrm>
            <a:off x="1137700" y="759150"/>
            <a:ext cx="9941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e43a6fa99a_12_27"/>
          <p:cNvSpPr txBox="1"/>
          <p:nvPr/>
        </p:nvSpPr>
        <p:spPr>
          <a:xfrm>
            <a:off x="46800" y="1117550"/>
            <a:ext cx="18194400" cy="915000"/>
          </a:xfrm>
          <a:prstGeom prst="rect">
            <a:avLst/>
          </a:prstGeom>
          <a:solidFill>
            <a:srgbClr val="107B8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7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System Flow Map of Key Operational Processes</a:t>
            </a:r>
            <a:endParaRPr sz="479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7" name="Google Shape;167;g3e43a6fa99a_12_27"/>
          <p:cNvSpPr txBox="1"/>
          <p:nvPr/>
        </p:nvSpPr>
        <p:spPr>
          <a:xfrm>
            <a:off x="138375" y="9726675"/>
            <a:ext cx="207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7B8B"/>
                </a:solidFill>
                <a:latin typeface="Calibri"/>
                <a:ea typeface="Calibri"/>
                <a:cs typeface="Calibri"/>
                <a:sym typeface="Calibri"/>
              </a:rPr>
              <a:t>Ai generated image</a:t>
            </a:r>
            <a:endParaRPr>
              <a:solidFill>
                <a:srgbClr val="107B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2D38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43a6fa99a_12_33"/>
          <p:cNvSpPr/>
          <p:nvPr/>
        </p:nvSpPr>
        <p:spPr>
          <a:xfrm rot="-5494514">
            <a:off x="14254763" y="260848"/>
            <a:ext cx="4236264" cy="4506663"/>
          </a:xfrm>
          <a:custGeom>
            <a:rect b="b" l="l" r="r" t="t"/>
            <a:pathLst>
              <a:path extrusionOk="0" h="4504960" w="4234663">
                <a:moveTo>
                  <a:pt x="4234663" y="4504960"/>
                </a:moveTo>
                <a:lnTo>
                  <a:pt x="0" y="4504960"/>
                </a:lnTo>
                <a:lnTo>
                  <a:pt x="0" y="0"/>
                </a:lnTo>
                <a:lnTo>
                  <a:pt x="4234663" y="0"/>
                </a:lnTo>
                <a:lnTo>
                  <a:pt x="4234663" y="4504960"/>
                </a:lnTo>
                <a:close/>
              </a:path>
            </a:pathLst>
          </a:custGeom>
          <a:blipFill rotWithShape="1">
            <a:blip r:embed="rId3">
              <a:alphaModFix amt="6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e43a6fa99a_12_33"/>
          <p:cNvSpPr/>
          <p:nvPr/>
        </p:nvSpPr>
        <p:spPr>
          <a:xfrm rot="-921333">
            <a:off x="14150394" y="7669696"/>
            <a:ext cx="4448038" cy="3174787"/>
          </a:xfrm>
          <a:custGeom>
            <a:rect b="b" l="l" r="r" t="t"/>
            <a:pathLst>
              <a:path extrusionOk="0" h="3172488" w="4444817">
                <a:moveTo>
                  <a:pt x="4444817" y="3172488"/>
                </a:moveTo>
                <a:lnTo>
                  <a:pt x="0" y="3172488"/>
                </a:lnTo>
                <a:lnTo>
                  <a:pt x="0" y="0"/>
                </a:lnTo>
                <a:lnTo>
                  <a:pt x="4444817" y="0"/>
                </a:lnTo>
                <a:lnTo>
                  <a:pt x="4444817" y="317248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e43a6fa99a_12_33"/>
          <p:cNvSpPr/>
          <p:nvPr/>
        </p:nvSpPr>
        <p:spPr>
          <a:xfrm flipH="1" rot="-3667584">
            <a:off x="-1092033" y="914749"/>
            <a:ext cx="5922546" cy="4227217"/>
          </a:xfrm>
          <a:custGeom>
            <a:rect b="b" l="l" r="r" t="t"/>
            <a:pathLst>
              <a:path extrusionOk="0" h="4230537" w="5927197">
                <a:moveTo>
                  <a:pt x="0" y="4230537"/>
                </a:moveTo>
                <a:lnTo>
                  <a:pt x="5927197" y="4230537"/>
                </a:lnTo>
                <a:lnTo>
                  <a:pt x="5927197" y="0"/>
                </a:lnTo>
                <a:lnTo>
                  <a:pt x="0" y="0"/>
                </a:lnTo>
                <a:lnTo>
                  <a:pt x="0" y="4230537"/>
                </a:lnTo>
                <a:close/>
              </a:path>
            </a:pathLst>
          </a:custGeom>
          <a:blipFill rotWithShape="1">
            <a:blip r:embed="rId4">
              <a:alphaModFix amt="71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e43a6fa99a_12_33"/>
          <p:cNvSpPr/>
          <p:nvPr/>
        </p:nvSpPr>
        <p:spPr>
          <a:xfrm rot="5305486">
            <a:off x="-428481" y="5655321"/>
            <a:ext cx="4732219" cy="5034276"/>
          </a:xfrm>
          <a:custGeom>
            <a:rect b="b" l="l" r="r" t="t"/>
            <a:pathLst>
              <a:path extrusionOk="0" h="5032373" w="4730431">
                <a:moveTo>
                  <a:pt x="0" y="0"/>
                </a:moveTo>
                <a:lnTo>
                  <a:pt x="4730430" y="0"/>
                </a:lnTo>
                <a:lnTo>
                  <a:pt x="4730430" y="5032374"/>
                </a:lnTo>
                <a:lnTo>
                  <a:pt x="0" y="5032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e43a6fa99a_12_33"/>
          <p:cNvSpPr txBox="1"/>
          <p:nvPr/>
        </p:nvSpPr>
        <p:spPr>
          <a:xfrm>
            <a:off x="2754175" y="1093300"/>
            <a:ext cx="12410400" cy="630900"/>
          </a:xfrm>
          <a:prstGeom prst="rect">
            <a:avLst/>
          </a:prstGeom>
          <a:solidFill>
            <a:srgbClr val="107B8B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Secure 4-Step Data Flow </a:t>
            </a:r>
            <a:endParaRPr sz="100"/>
          </a:p>
        </p:txBody>
      </p:sp>
      <p:grpSp>
        <p:nvGrpSpPr>
          <p:cNvPr id="177" name="Google Shape;177;g3e43a6fa99a_12_33"/>
          <p:cNvGrpSpPr/>
          <p:nvPr/>
        </p:nvGrpSpPr>
        <p:grpSpPr>
          <a:xfrm>
            <a:off x="-103858" y="-393939"/>
            <a:ext cx="18496219" cy="1291990"/>
            <a:chOff x="0" y="-57150"/>
            <a:chExt cx="4871400" cy="340275"/>
          </a:xfrm>
        </p:grpSpPr>
        <p:sp>
          <p:nvSpPr>
            <p:cNvPr id="178" name="Google Shape;178;g3e43a6fa99a_12_33"/>
            <p:cNvSpPr/>
            <p:nvPr/>
          </p:nvSpPr>
          <p:spPr>
            <a:xfrm>
              <a:off x="0" y="0"/>
              <a:ext cx="4871300" cy="283125"/>
            </a:xfrm>
            <a:custGeom>
              <a:rect b="b" l="l" r="r" t="t"/>
              <a:pathLst>
                <a:path extrusionOk="0" h="283125" w="4871300">
                  <a:moveTo>
                    <a:pt x="0" y="0"/>
                  </a:moveTo>
                  <a:lnTo>
                    <a:pt x="4871300" y="0"/>
                  </a:lnTo>
                  <a:lnTo>
                    <a:pt x="4871300" y="283125"/>
                  </a:lnTo>
                  <a:lnTo>
                    <a:pt x="0" y="283125"/>
                  </a:lnTo>
                  <a:close/>
                </a:path>
              </a:pathLst>
            </a:custGeom>
            <a:solidFill>
              <a:srgbClr val="909EA8"/>
            </a:solidFill>
            <a:ln cap="sq" cmpd="sng" w="38100">
              <a:solidFill>
                <a:srgbClr val="9AA5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g3e43a6fa99a_12_33"/>
            <p:cNvSpPr txBox="1"/>
            <p:nvPr/>
          </p:nvSpPr>
          <p:spPr>
            <a:xfrm>
              <a:off x="0" y="-57150"/>
              <a:ext cx="48714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g3e43a6fa99a_12_33"/>
          <p:cNvGrpSpPr/>
          <p:nvPr/>
        </p:nvGrpSpPr>
        <p:grpSpPr>
          <a:xfrm>
            <a:off x="331925" y="1292850"/>
            <a:ext cx="17254935" cy="8436636"/>
            <a:chOff x="0" y="-132659"/>
            <a:chExt cx="3007501" cy="1874100"/>
          </a:xfrm>
        </p:grpSpPr>
        <p:sp>
          <p:nvSpPr>
            <p:cNvPr id="181" name="Google Shape;181;g3e43a6fa99a_12_33"/>
            <p:cNvSpPr/>
            <p:nvPr/>
          </p:nvSpPr>
          <p:spPr>
            <a:xfrm>
              <a:off x="0" y="0"/>
              <a:ext cx="3007386" cy="1741363"/>
            </a:xfrm>
            <a:custGeom>
              <a:rect b="b" l="l" r="r" t="t"/>
              <a:pathLst>
                <a:path extrusionOk="0" h="1741363" w="3007386">
                  <a:moveTo>
                    <a:pt x="34578" y="0"/>
                  </a:moveTo>
                  <a:lnTo>
                    <a:pt x="2972807" y="0"/>
                  </a:lnTo>
                  <a:cubicBezTo>
                    <a:pt x="2981978" y="0"/>
                    <a:pt x="2990773" y="3643"/>
                    <a:pt x="2997258" y="10128"/>
                  </a:cubicBezTo>
                  <a:cubicBezTo>
                    <a:pt x="3003743" y="16612"/>
                    <a:pt x="3007386" y="25408"/>
                    <a:pt x="3007386" y="34578"/>
                  </a:cubicBezTo>
                  <a:lnTo>
                    <a:pt x="3007386" y="1706785"/>
                  </a:lnTo>
                  <a:cubicBezTo>
                    <a:pt x="3007386" y="1715955"/>
                    <a:pt x="3003743" y="1724751"/>
                    <a:pt x="2997258" y="1731235"/>
                  </a:cubicBezTo>
                  <a:cubicBezTo>
                    <a:pt x="2990773" y="1737720"/>
                    <a:pt x="2981978" y="1741363"/>
                    <a:pt x="2972807" y="1741363"/>
                  </a:cubicBezTo>
                  <a:lnTo>
                    <a:pt x="34578" y="1741363"/>
                  </a:lnTo>
                  <a:cubicBezTo>
                    <a:pt x="15481" y="1741363"/>
                    <a:pt x="0" y="1725882"/>
                    <a:pt x="0" y="1706785"/>
                  </a:cubicBezTo>
                  <a:lnTo>
                    <a:pt x="0" y="34578"/>
                  </a:lnTo>
                  <a:cubicBezTo>
                    <a:pt x="0" y="25408"/>
                    <a:pt x="3643" y="16612"/>
                    <a:pt x="10128" y="10128"/>
                  </a:cubicBezTo>
                  <a:cubicBezTo>
                    <a:pt x="16612" y="3643"/>
                    <a:pt x="25408" y="0"/>
                    <a:pt x="34578" y="0"/>
                  </a:cubicBezTo>
                  <a:close/>
                </a:path>
              </a:pathLst>
            </a:custGeom>
            <a:solidFill>
              <a:srgbClr val="031F27">
                <a:alpha val="498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g3e43a6fa99a_12_33"/>
            <p:cNvSpPr txBox="1"/>
            <p:nvPr/>
          </p:nvSpPr>
          <p:spPr>
            <a:xfrm>
              <a:off x="1" y="-132659"/>
              <a:ext cx="3007500" cy="18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g3e43a6fa99a_12_33"/>
          <p:cNvSpPr/>
          <p:nvPr/>
        </p:nvSpPr>
        <p:spPr>
          <a:xfrm>
            <a:off x="157053" y="-36238"/>
            <a:ext cx="2492687" cy="1007184"/>
          </a:xfrm>
          <a:custGeom>
            <a:rect b="b" l="l" r="r" t="t"/>
            <a:pathLst>
              <a:path extrusionOk="0" h="1007184" w="2492687">
                <a:moveTo>
                  <a:pt x="0" y="0"/>
                </a:moveTo>
                <a:lnTo>
                  <a:pt x="2492687" y="0"/>
                </a:lnTo>
                <a:lnTo>
                  <a:pt x="2492687" y="1007184"/>
                </a:lnTo>
                <a:lnTo>
                  <a:pt x="0" y="1007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82402" l="0" r="0" t="-746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e43a6fa99a_12_33"/>
          <p:cNvSpPr/>
          <p:nvPr/>
        </p:nvSpPr>
        <p:spPr>
          <a:xfrm>
            <a:off x="15402555" y="102562"/>
            <a:ext cx="2184385" cy="795480"/>
          </a:xfrm>
          <a:custGeom>
            <a:rect b="b" l="l" r="r" t="t"/>
            <a:pathLst>
              <a:path extrusionOk="0" h="795480" w="2184385">
                <a:moveTo>
                  <a:pt x="0" y="0"/>
                </a:moveTo>
                <a:lnTo>
                  <a:pt x="2184385" y="0"/>
                </a:lnTo>
                <a:lnTo>
                  <a:pt x="2184385" y="795481"/>
                </a:lnTo>
                <a:lnTo>
                  <a:pt x="0" y="795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g3e43a6fa99a_12_33"/>
          <p:cNvGrpSpPr/>
          <p:nvPr/>
        </p:nvGrpSpPr>
        <p:grpSpPr>
          <a:xfrm>
            <a:off x="6939171" y="-136751"/>
            <a:ext cx="4686449" cy="1107697"/>
            <a:chOff x="0" y="0"/>
            <a:chExt cx="6248599" cy="1476929"/>
          </a:xfrm>
        </p:grpSpPr>
        <p:sp>
          <p:nvSpPr>
            <p:cNvPr id="186" name="Google Shape;186;g3e43a6fa99a_12_33"/>
            <p:cNvSpPr/>
            <p:nvPr/>
          </p:nvSpPr>
          <p:spPr>
            <a:xfrm>
              <a:off x="2104885" y="268004"/>
              <a:ext cx="4143714" cy="1102456"/>
            </a:xfrm>
            <a:custGeom>
              <a:rect b="b" l="l" r="r" t="t"/>
              <a:pathLst>
                <a:path extrusionOk="0" h="1102456" w="4143714">
                  <a:moveTo>
                    <a:pt x="0" y="0"/>
                  </a:moveTo>
                  <a:lnTo>
                    <a:pt x="4143713" y="0"/>
                  </a:lnTo>
                  <a:lnTo>
                    <a:pt x="4143713" y="1102456"/>
                  </a:lnTo>
                  <a:lnTo>
                    <a:pt x="0" y="11024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11939" l="-5746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g3e43a6fa99a_12_33"/>
            <p:cNvSpPr/>
            <p:nvPr/>
          </p:nvSpPr>
          <p:spPr>
            <a:xfrm>
              <a:off x="0" y="0"/>
              <a:ext cx="2104885" cy="1476929"/>
            </a:xfrm>
            <a:custGeom>
              <a:rect b="b" l="l" r="r" t="t"/>
              <a:pathLst>
                <a:path extrusionOk="0" h="1476929" w="2104885">
                  <a:moveTo>
                    <a:pt x="0" y="0"/>
                  </a:moveTo>
                  <a:lnTo>
                    <a:pt x="2104885" y="0"/>
                  </a:lnTo>
                  <a:lnTo>
                    <a:pt x="2104885" y="1476929"/>
                  </a:lnTo>
                  <a:lnTo>
                    <a:pt x="0" y="14769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59750" l="0" r="-2144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g3e43a6fa99a_12_33"/>
          <p:cNvSpPr txBox="1"/>
          <p:nvPr/>
        </p:nvSpPr>
        <p:spPr>
          <a:xfrm>
            <a:off x="14944954" y="1292849"/>
            <a:ext cx="27606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53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23/05/2026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53">
              <a:solidFill>
                <a:srgbClr val="E9E9E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g3e43a6fa99a_12_33"/>
          <p:cNvSpPr txBox="1"/>
          <p:nvPr/>
        </p:nvSpPr>
        <p:spPr>
          <a:xfrm>
            <a:off x="533425" y="2009300"/>
            <a:ext cx="16851900" cy="73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b="1" i="1" lang="en-US" sz="2300">
                <a:solidFill>
                  <a:schemeClr val="lt1"/>
                </a:solidFill>
              </a:rPr>
              <a:t>1. Clinical Trigger: </a:t>
            </a:r>
            <a:r>
              <a:rPr lang="en-US" sz="2300">
                <a:solidFill>
                  <a:schemeClr val="lt1"/>
                </a:solidFill>
              </a:rPr>
              <a:t>The patient attends a checkup, and the hospital's EMR automatically maps the visit to a standardized CPT medical code.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b="1" i="1" lang="en-US" sz="2300">
                <a:solidFill>
                  <a:schemeClr val="lt1"/>
                </a:solidFill>
              </a:rPr>
              <a:t>2. Secure Gateway:</a:t>
            </a:r>
            <a:r>
              <a:rPr lang="en-US" sz="2300">
                <a:solidFill>
                  <a:schemeClr val="lt1"/>
                </a:solidFill>
              </a:rPr>
              <a:t> The record is routed via regional health exchanges (Malaffi, Nabidh, Riayati). Zero-knowledge logic verifies the completion status (Yes/No) without exposing any private diagnostic data.</a:t>
            </a:r>
            <a:endParaRPr sz="8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b="1" i="1" lang="en-US" sz="2300">
                <a:solidFill>
                  <a:schemeClr val="lt1"/>
                </a:solidFill>
              </a:rPr>
              <a:t>3. Smart Contract:</a:t>
            </a:r>
            <a:r>
              <a:rPr lang="en-US" sz="2300">
                <a:solidFill>
                  <a:schemeClr val="lt1"/>
                </a:solidFill>
              </a:rPr>
              <a:t> A private blockchain runs "Care Bundle Logic" to ensure all demographic test requirements are met before minting WQP tokens.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b="1" i="1" lang="en-US" sz="2300">
                <a:solidFill>
                  <a:schemeClr val="lt1"/>
                </a:solidFill>
              </a:rPr>
              <a:t>4. Dual Output:</a:t>
            </a:r>
            <a:r>
              <a:rPr lang="en-US" sz="2300">
                <a:solidFill>
                  <a:schemeClr val="lt1"/>
                </a:solidFill>
              </a:rPr>
              <a:t> Tokens are issued directly to the patient's mobile incentive wallet for redemption, while anonymous statistics feed into a government-facing dashboard.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</a:rPr>
              <a:t>Strategic Impact</a:t>
            </a:r>
            <a:endParaRPr b="1" sz="28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b="1" lang="en-US" sz="2300">
                <a:solidFill>
                  <a:schemeClr val="lt1"/>
                </a:solidFill>
              </a:rPr>
              <a:t>Why it Works:</a:t>
            </a:r>
            <a:r>
              <a:rPr lang="en-US" sz="2300">
                <a:solidFill>
                  <a:schemeClr val="lt1"/>
                </a:solidFill>
              </a:rPr>
              <a:t> It directly combats the UAE's high 37% clinic no-show rate by shifting patients from reactive treatment to proactive prevention using immediate, tangible rewards.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b="1" lang="en-US" sz="2300">
                <a:solidFill>
                  <a:schemeClr val="lt1"/>
                </a:solidFill>
              </a:rPr>
              <a:t>Why it's Practical:</a:t>
            </a:r>
            <a:r>
              <a:rPr lang="en-US" sz="2300">
                <a:solidFill>
                  <a:schemeClr val="lt1"/>
                </a:solidFill>
              </a:rPr>
              <a:t> It requires no new infrastructure from hospitals, integrating invisibly via APIs into existing EMR systems (like Epic). Financially, funding upfront preventative tokens costs a fraction of treating advanced, neglected chronic diseases.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2D38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43a6fa99a_12_3"/>
          <p:cNvSpPr/>
          <p:nvPr/>
        </p:nvSpPr>
        <p:spPr>
          <a:xfrm rot="-5494514">
            <a:off x="14254763" y="260848"/>
            <a:ext cx="4236264" cy="4506663"/>
          </a:xfrm>
          <a:custGeom>
            <a:rect b="b" l="l" r="r" t="t"/>
            <a:pathLst>
              <a:path extrusionOk="0" h="4504960" w="4234663">
                <a:moveTo>
                  <a:pt x="4234663" y="4504960"/>
                </a:moveTo>
                <a:lnTo>
                  <a:pt x="0" y="4504960"/>
                </a:lnTo>
                <a:lnTo>
                  <a:pt x="0" y="0"/>
                </a:lnTo>
                <a:lnTo>
                  <a:pt x="4234663" y="0"/>
                </a:lnTo>
                <a:lnTo>
                  <a:pt x="4234663" y="4504960"/>
                </a:lnTo>
                <a:close/>
              </a:path>
            </a:pathLst>
          </a:custGeom>
          <a:blipFill rotWithShape="1">
            <a:blip r:embed="rId3">
              <a:alphaModFix amt="6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e43a6fa99a_12_3"/>
          <p:cNvSpPr/>
          <p:nvPr/>
        </p:nvSpPr>
        <p:spPr>
          <a:xfrm rot="-921333">
            <a:off x="14150394" y="7669696"/>
            <a:ext cx="4448038" cy="3174787"/>
          </a:xfrm>
          <a:custGeom>
            <a:rect b="b" l="l" r="r" t="t"/>
            <a:pathLst>
              <a:path extrusionOk="0" h="3172488" w="4444817">
                <a:moveTo>
                  <a:pt x="4444817" y="3172488"/>
                </a:moveTo>
                <a:lnTo>
                  <a:pt x="0" y="3172488"/>
                </a:lnTo>
                <a:lnTo>
                  <a:pt x="0" y="0"/>
                </a:lnTo>
                <a:lnTo>
                  <a:pt x="4444817" y="0"/>
                </a:lnTo>
                <a:lnTo>
                  <a:pt x="4444817" y="317248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e43a6fa99a_12_3"/>
          <p:cNvSpPr/>
          <p:nvPr/>
        </p:nvSpPr>
        <p:spPr>
          <a:xfrm flipH="1" rot="-3667584">
            <a:off x="-1092033" y="914749"/>
            <a:ext cx="5922546" cy="4227217"/>
          </a:xfrm>
          <a:custGeom>
            <a:rect b="b" l="l" r="r" t="t"/>
            <a:pathLst>
              <a:path extrusionOk="0" h="4230537" w="5927197">
                <a:moveTo>
                  <a:pt x="0" y="4230537"/>
                </a:moveTo>
                <a:lnTo>
                  <a:pt x="5927197" y="4230537"/>
                </a:lnTo>
                <a:lnTo>
                  <a:pt x="5927197" y="0"/>
                </a:lnTo>
                <a:lnTo>
                  <a:pt x="0" y="0"/>
                </a:lnTo>
                <a:lnTo>
                  <a:pt x="0" y="4230537"/>
                </a:lnTo>
                <a:close/>
              </a:path>
            </a:pathLst>
          </a:custGeom>
          <a:blipFill rotWithShape="1">
            <a:blip r:embed="rId4">
              <a:alphaModFix amt="71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e43a6fa99a_12_3"/>
          <p:cNvSpPr/>
          <p:nvPr/>
        </p:nvSpPr>
        <p:spPr>
          <a:xfrm rot="5305486">
            <a:off x="-428481" y="5655321"/>
            <a:ext cx="4732219" cy="5034276"/>
          </a:xfrm>
          <a:custGeom>
            <a:rect b="b" l="l" r="r" t="t"/>
            <a:pathLst>
              <a:path extrusionOk="0" h="5032373" w="4730431">
                <a:moveTo>
                  <a:pt x="0" y="0"/>
                </a:moveTo>
                <a:lnTo>
                  <a:pt x="4730430" y="0"/>
                </a:lnTo>
                <a:lnTo>
                  <a:pt x="4730430" y="5032374"/>
                </a:lnTo>
                <a:lnTo>
                  <a:pt x="0" y="5032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e43a6fa99a_12_3"/>
          <p:cNvSpPr txBox="1"/>
          <p:nvPr/>
        </p:nvSpPr>
        <p:spPr>
          <a:xfrm>
            <a:off x="604912" y="1480824"/>
            <a:ext cx="13925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E9E9E9"/>
                </a:solidFill>
                <a:latin typeface="Anton"/>
                <a:ea typeface="Anton"/>
                <a:cs typeface="Anton"/>
                <a:sym typeface="Anton"/>
              </a:rPr>
              <a:t>OUR PROTOTYPE</a:t>
            </a:r>
            <a:endParaRPr/>
          </a:p>
        </p:txBody>
      </p:sp>
      <p:grpSp>
        <p:nvGrpSpPr>
          <p:cNvPr id="199" name="Google Shape;199;g3e43a6fa99a_12_3"/>
          <p:cNvGrpSpPr/>
          <p:nvPr/>
        </p:nvGrpSpPr>
        <p:grpSpPr>
          <a:xfrm>
            <a:off x="604912" y="2757918"/>
            <a:ext cx="6338226" cy="7141206"/>
            <a:chOff x="0" y="-57150"/>
            <a:chExt cx="1669316" cy="1880799"/>
          </a:xfrm>
        </p:grpSpPr>
        <p:sp>
          <p:nvSpPr>
            <p:cNvPr id="200" name="Google Shape;200;g3e43a6fa99a_12_3"/>
            <p:cNvSpPr/>
            <p:nvPr/>
          </p:nvSpPr>
          <p:spPr>
            <a:xfrm>
              <a:off x="0" y="0"/>
              <a:ext cx="1669316" cy="1823649"/>
            </a:xfrm>
            <a:custGeom>
              <a:rect b="b" l="l" r="r" t="t"/>
              <a:pathLst>
                <a:path extrusionOk="0" h="1823649" w="1669316">
                  <a:moveTo>
                    <a:pt x="62295" y="0"/>
                  </a:moveTo>
                  <a:lnTo>
                    <a:pt x="1607020" y="0"/>
                  </a:lnTo>
                  <a:cubicBezTo>
                    <a:pt x="1623542" y="0"/>
                    <a:pt x="1639387" y="6563"/>
                    <a:pt x="1651070" y="18246"/>
                  </a:cubicBezTo>
                  <a:cubicBezTo>
                    <a:pt x="1662752" y="29928"/>
                    <a:pt x="1669316" y="45773"/>
                    <a:pt x="1669316" y="62295"/>
                  </a:cubicBezTo>
                  <a:lnTo>
                    <a:pt x="1669316" y="1761354"/>
                  </a:lnTo>
                  <a:cubicBezTo>
                    <a:pt x="1669316" y="1777876"/>
                    <a:pt x="1662752" y="1793721"/>
                    <a:pt x="1651070" y="1805403"/>
                  </a:cubicBezTo>
                  <a:cubicBezTo>
                    <a:pt x="1639387" y="1817086"/>
                    <a:pt x="1623542" y="1823649"/>
                    <a:pt x="1607020" y="1823649"/>
                  </a:cubicBezTo>
                  <a:lnTo>
                    <a:pt x="62295" y="1823649"/>
                  </a:lnTo>
                  <a:cubicBezTo>
                    <a:pt x="45773" y="1823649"/>
                    <a:pt x="29928" y="1817086"/>
                    <a:pt x="18246" y="1805403"/>
                  </a:cubicBezTo>
                  <a:cubicBezTo>
                    <a:pt x="6563" y="1793721"/>
                    <a:pt x="0" y="1777876"/>
                    <a:pt x="0" y="1761354"/>
                  </a:cubicBezTo>
                  <a:lnTo>
                    <a:pt x="0" y="62295"/>
                  </a:lnTo>
                  <a:cubicBezTo>
                    <a:pt x="0" y="45773"/>
                    <a:pt x="6563" y="29928"/>
                    <a:pt x="18246" y="18246"/>
                  </a:cubicBezTo>
                  <a:cubicBezTo>
                    <a:pt x="29928" y="6563"/>
                    <a:pt x="45773" y="0"/>
                    <a:pt x="62295" y="0"/>
                  </a:cubicBezTo>
                  <a:close/>
                </a:path>
              </a:pathLst>
            </a:custGeom>
            <a:solidFill>
              <a:srgbClr val="031F27">
                <a:alpha val="498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g3e43a6fa99a_12_3"/>
            <p:cNvSpPr txBox="1"/>
            <p:nvPr/>
          </p:nvSpPr>
          <p:spPr>
            <a:xfrm>
              <a:off x="0" y="-57150"/>
              <a:ext cx="1669200" cy="18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g3e43a6fa99a_12_3"/>
          <p:cNvSpPr txBox="1"/>
          <p:nvPr/>
        </p:nvSpPr>
        <p:spPr>
          <a:xfrm>
            <a:off x="604975" y="3461238"/>
            <a:ext cx="6338100" cy="49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1911" lvl="1" marL="483822" marR="0" rtl="0" algn="l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Clr>
                <a:srgbClr val="E9E9E9"/>
              </a:buClr>
              <a:buSzPts val="2240"/>
              <a:buFont typeface="Arial"/>
              <a:buChar char="•"/>
            </a:pPr>
            <a:r>
              <a:rPr lang="en-US" sz="2240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Hospital</a:t>
            </a:r>
            <a:r>
              <a:rPr lang="en-US" sz="2240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 clinic layer (DHA/MoHAP/EHS) communicates with the middleware server gateway via API which then outputs a smart contract layer which on the government facing version showcases token statistics and the patient facing app allows patient to see and redeem available tokens </a:t>
            </a:r>
            <a:endParaRPr/>
          </a:p>
          <a:p>
            <a:pPr indent="0" lvl="0" marL="0" marR="0" rtl="0" algn="l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40">
              <a:solidFill>
                <a:srgbClr val="E9E9E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40">
              <a:solidFill>
                <a:srgbClr val="E9E9E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03" name="Google Shape;203;g3e43a6fa99a_12_3"/>
          <p:cNvGrpSpPr/>
          <p:nvPr/>
        </p:nvGrpSpPr>
        <p:grpSpPr>
          <a:xfrm>
            <a:off x="-103858" y="-393939"/>
            <a:ext cx="18496219" cy="1291990"/>
            <a:chOff x="0" y="-57150"/>
            <a:chExt cx="4871400" cy="340275"/>
          </a:xfrm>
        </p:grpSpPr>
        <p:sp>
          <p:nvSpPr>
            <p:cNvPr id="204" name="Google Shape;204;g3e43a6fa99a_12_3"/>
            <p:cNvSpPr/>
            <p:nvPr/>
          </p:nvSpPr>
          <p:spPr>
            <a:xfrm>
              <a:off x="0" y="0"/>
              <a:ext cx="4871300" cy="283125"/>
            </a:xfrm>
            <a:custGeom>
              <a:rect b="b" l="l" r="r" t="t"/>
              <a:pathLst>
                <a:path extrusionOk="0" h="283125" w="4871300">
                  <a:moveTo>
                    <a:pt x="0" y="0"/>
                  </a:moveTo>
                  <a:lnTo>
                    <a:pt x="4871300" y="0"/>
                  </a:lnTo>
                  <a:lnTo>
                    <a:pt x="4871300" y="283125"/>
                  </a:lnTo>
                  <a:lnTo>
                    <a:pt x="0" y="283125"/>
                  </a:lnTo>
                  <a:close/>
                </a:path>
              </a:pathLst>
            </a:custGeom>
            <a:solidFill>
              <a:srgbClr val="909EA8"/>
            </a:solidFill>
            <a:ln cap="sq" cmpd="sng" w="38100">
              <a:solidFill>
                <a:srgbClr val="9AA5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g3e43a6fa99a_12_3"/>
            <p:cNvSpPr txBox="1"/>
            <p:nvPr/>
          </p:nvSpPr>
          <p:spPr>
            <a:xfrm>
              <a:off x="0" y="-57150"/>
              <a:ext cx="48714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g3e43a6fa99a_12_3"/>
          <p:cNvSpPr/>
          <p:nvPr/>
        </p:nvSpPr>
        <p:spPr>
          <a:xfrm>
            <a:off x="157053" y="-36238"/>
            <a:ext cx="2492687" cy="1007184"/>
          </a:xfrm>
          <a:custGeom>
            <a:rect b="b" l="l" r="r" t="t"/>
            <a:pathLst>
              <a:path extrusionOk="0" h="1007184" w="2492687">
                <a:moveTo>
                  <a:pt x="0" y="0"/>
                </a:moveTo>
                <a:lnTo>
                  <a:pt x="2492687" y="0"/>
                </a:lnTo>
                <a:lnTo>
                  <a:pt x="2492687" y="1007184"/>
                </a:lnTo>
                <a:lnTo>
                  <a:pt x="0" y="1007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82402" l="0" r="0" t="-746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e43a6fa99a_12_3"/>
          <p:cNvSpPr/>
          <p:nvPr/>
        </p:nvSpPr>
        <p:spPr>
          <a:xfrm>
            <a:off x="15402555" y="102562"/>
            <a:ext cx="2184385" cy="795480"/>
          </a:xfrm>
          <a:custGeom>
            <a:rect b="b" l="l" r="r" t="t"/>
            <a:pathLst>
              <a:path extrusionOk="0" h="795480" w="2184385">
                <a:moveTo>
                  <a:pt x="0" y="0"/>
                </a:moveTo>
                <a:lnTo>
                  <a:pt x="2184385" y="0"/>
                </a:lnTo>
                <a:lnTo>
                  <a:pt x="2184385" y="795481"/>
                </a:lnTo>
                <a:lnTo>
                  <a:pt x="0" y="795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" name="Google Shape;208;g3e43a6fa99a_12_3"/>
          <p:cNvGrpSpPr/>
          <p:nvPr/>
        </p:nvGrpSpPr>
        <p:grpSpPr>
          <a:xfrm>
            <a:off x="6939171" y="-136751"/>
            <a:ext cx="4686449" cy="1107697"/>
            <a:chOff x="0" y="0"/>
            <a:chExt cx="6248599" cy="1476929"/>
          </a:xfrm>
        </p:grpSpPr>
        <p:sp>
          <p:nvSpPr>
            <p:cNvPr id="209" name="Google Shape;209;g3e43a6fa99a_12_3"/>
            <p:cNvSpPr/>
            <p:nvPr/>
          </p:nvSpPr>
          <p:spPr>
            <a:xfrm>
              <a:off x="2104885" y="268004"/>
              <a:ext cx="4143714" cy="1102456"/>
            </a:xfrm>
            <a:custGeom>
              <a:rect b="b" l="l" r="r" t="t"/>
              <a:pathLst>
                <a:path extrusionOk="0" h="1102456" w="4143714">
                  <a:moveTo>
                    <a:pt x="0" y="0"/>
                  </a:moveTo>
                  <a:lnTo>
                    <a:pt x="4143713" y="0"/>
                  </a:lnTo>
                  <a:lnTo>
                    <a:pt x="4143713" y="1102456"/>
                  </a:lnTo>
                  <a:lnTo>
                    <a:pt x="0" y="11024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11939" l="-5746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g3e43a6fa99a_12_3"/>
            <p:cNvSpPr/>
            <p:nvPr/>
          </p:nvSpPr>
          <p:spPr>
            <a:xfrm>
              <a:off x="0" y="0"/>
              <a:ext cx="2104885" cy="1476929"/>
            </a:xfrm>
            <a:custGeom>
              <a:rect b="b" l="l" r="r" t="t"/>
              <a:pathLst>
                <a:path extrusionOk="0" h="1476929" w="2104885">
                  <a:moveTo>
                    <a:pt x="0" y="0"/>
                  </a:moveTo>
                  <a:lnTo>
                    <a:pt x="2104885" y="0"/>
                  </a:lnTo>
                  <a:lnTo>
                    <a:pt x="2104885" y="1476929"/>
                  </a:lnTo>
                  <a:lnTo>
                    <a:pt x="0" y="14769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59750" l="0" r="-2144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g3e43a6fa99a_12_3"/>
          <p:cNvSpPr txBox="1"/>
          <p:nvPr/>
        </p:nvSpPr>
        <p:spPr>
          <a:xfrm>
            <a:off x="14944954" y="1292849"/>
            <a:ext cx="27606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53">
              <a:solidFill>
                <a:srgbClr val="E9E9E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2" name="Google Shape;212;g3e43a6fa99a_12_3" title="Screen Shot 2026-05-23 at 2.41.54 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39175" y="2479925"/>
            <a:ext cx="6070493" cy="714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e43a6fa99a_12_3" title="Screen Shot 2026-05-23 at 2.44.33 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3205850" y="2741850"/>
            <a:ext cx="4686449" cy="348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2D38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"/>
          <p:cNvSpPr/>
          <p:nvPr/>
        </p:nvSpPr>
        <p:spPr>
          <a:xfrm rot="-5494839">
            <a:off x="14254528" y="262316"/>
            <a:ext cx="4234663" cy="4504960"/>
          </a:xfrm>
          <a:custGeom>
            <a:rect b="b" l="l" r="r" t="t"/>
            <a:pathLst>
              <a:path extrusionOk="0" h="4504960" w="4234663">
                <a:moveTo>
                  <a:pt x="4234663" y="4504960"/>
                </a:moveTo>
                <a:lnTo>
                  <a:pt x="0" y="4504960"/>
                </a:lnTo>
                <a:lnTo>
                  <a:pt x="0" y="0"/>
                </a:lnTo>
                <a:lnTo>
                  <a:pt x="4234663" y="0"/>
                </a:lnTo>
                <a:lnTo>
                  <a:pt x="4234663" y="4504960"/>
                </a:lnTo>
                <a:close/>
              </a:path>
            </a:pathLst>
          </a:custGeom>
          <a:blipFill rotWithShape="1">
            <a:blip r:embed="rId3">
              <a:alphaModFix amt="6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 rot="-921333">
            <a:off x="14150394" y="7669696"/>
            <a:ext cx="4448038" cy="3174787"/>
          </a:xfrm>
          <a:custGeom>
            <a:rect b="b" l="l" r="r" t="t"/>
            <a:pathLst>
              <a:path extrusionOk="0" h="3172488" w="4444817">
                <a:moveTo>
                  <a:pt x="4444817" y="3172488"/>
                </a:moveTo>
                <a:lnTo>
                  <a:pt x="0" y="3172488"/>
                </a:lnTo>
                <a:lnTo>
                  <a:pt x="0" y="0"/>
                </a:lnTo>
                <a:lnTo>
                  <a:pt x="4444817" y="0"/>
                </a:lnTo>
                <a:lnTo>
                  <a:pt x="4444817" y="317248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 flipH="1" rot="-3666610">
            <a:off x="-1095053" y="916046"/>
            <a:ext cx="5927197" cy="4230537"/>
          </a:xfrm>
          <a:custGeom>
            <a:rect b="b" l="l" r="r" t="t"/>
            <a:pathLst>
              <a:path extrusionOk="0" h="4230537" w="5927197">
                <a:moveTo>
                  <a:pt x="0" y="4230537"/>
                </a:moveTo>
                <a:lnTo>
                  <a:pt x="5927197" y="4230537"/>
                </a:lnTo>
                <a:lnTo>
                  <a:pt x="5927197" y="0"/>
                </a:lnTo>
                <a:lnTo>
                  <a:pt x="0" y="0"/>
                </a:lnTo>
                <a:lnTo>
                  <a:pt x="0" y="4230537"/>
                </a:lnTo>
                <a:close/>
              </a:path>
            </a:pathLst>
          </a:custGeom>
          <a:blipFill rotWithShape="1">
            <a:blip r:embed="rId4">
              <a:alphaModFix amt="71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 rot="5305161">
            <a:off x="-426431" y="5655584"/>
            <a:ext cx="4730431" cy="5032373"/>
          </a:xfrm>
          <a:custGeom>
            <a:rect b="b" l="l" r="r" t="t"/>
            <a:pathLst>
              <a:path extrusionOk="0" h="5032373" w="4730431">
                <a:moveTo>
                  <a:pt x="0" y="0"/>
                </a:moveTo>
                <a:lnTo>
                  <a:pt x="4730430" y="0"/>
                </a:lnTo>
                <a:lnTo>
                  <a:pt x="4730430" y="5032374"/>
                </a:lnTo>
                <a:lnTo>
                  <a:pt x="0" y="5032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604912" y="1480824"/>
            <a:ext cx="13925001" cy="1184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E9E9E9"/>
                </a:solidFill>
                <a:latin typeface="Anton"/>
                <a:ea typeface="Anton"/>
                <a:cs typeface="Anton"/>
                <a:sym typeface="Anton"/>
              </a:rPr>
              <a:t>OUR PROTOTYPE</a:t>
            </a:r>
            <a:endParaRPr/>
          </a:p>
        </p:txBody>
      </p:sp>
      <p:grpSp>
        <p:nvGrpSpPr>
          <p:cNvPr id="223" name="Google Shape;223;p5"/>
          <p:cNvGrpSpPr/>
          <p:nvPr/>
        </p:nvGrpSpPr>
        <p:grpSpPr>
          <a:xfrm>
            <a:off x="604912" y="2757920"/>
            <a:ext cx="6338186" cy="7141159"/>
            <a:chOff x="0" y="-57150"/>
            <a:chExt cx="1669316" cy="1880799"/>
          </a:xfrm>
        </p:grpSpPr>
        <p:sp>
          <p:nvSpPr>
            <p:cNvPr id="224" name="Google Shape;224;p5"/>
            <p:cNvSpPr/>
            <p:nvPr/>
          </p:nvSpPr>
          <p:spPr>
            <a:xfrm>
              <a:off x="0" y="0"/>
              <a:ext cx="1669316" cy="1823649"/>
            </a:xfrm>
            <a:custGeom>
              <a:rect b="b" l="l" r="r" t="t"/>
              <a:pathLst>
                <a:path extrusionOk="0" h="1823649" w="1669316">
                  <a:moveTo>
                    <a:pt x="62295" y="0"/>
                  </a:moveTo>
                  <a:lnTo>
                    <a:pt x="1607020" y="0"/>
                  </a:lnTo>
                  <a:cubicBezTo>
                    <a:pt x="1623542" y="0"/>
                    <a:pt x="1639387" y="6563"/>
                    <a:pt x="1651070" y="18246"/>
                  </a:cubicBezTo>
                  <a:cubicBezTo>
                    <a:pt x="1662752" y="29928"/>
                    <a:pt x="1669316" y="45773"/>
                    <a:pt x="1669316" y="62295"/>
                  </a:cubicBezTo>
                  <a:lnTo>
                    <a:pt x="1669316" y="1761354"/>
                  </a:lnTo>
                  <a:cubicBezTo>
                    <a:pt x="1669316" y="1777876"/>
                    <a:pt x="1662752" y="1793721"/>
                    <a:pt x="1651070" y="1805403"/>
                  </a:cubicBezTo>
                  <a:cubicBezTo>
                    <a:pt x="1639387" y="1817086"/>
                    <a:pt x="1623542" y="1823649"/>
                    <a:pt x="1607020" y="1823649"/>
                  </a:cubicBezTo>
                  <a:lnTo>
                    <a:pt x="62295" y="1823649"/>
                  </a:lnTo>
                  <a:cubicBezTo>
                    <a:pt x="45773" y="1823649"/>
                    <a:pt x="29928" y="1817086"/>
                    <a:pt x="18246" y="1805403"/>
                  </a:cubicBezTo>
                  <a:cubicBezTo>
                    <a:pt x="6563" y="1793721"/>
                    <a:pt x="0" y="1777876"/>
                    <a:pt x="0" y="1761354"/>
                  </a:cubicBezTo>
                  <a:lnTo>
                    <a:pt x="0" y="62295"/>
                  </a:lnTo>
                  <a:cubicBezTo>
                    <a:pt x="0" y="45773"/>
                    <a:pt x="6563" y="29928"/>
                    <a:pt x="18246" y="18246"/>
                  </a:cubicBezTo>
                  <a:cubicBezTo>
                    <a:pt x="29928" y="6563"/>
                    <a:pt x="45773" y="0"/>
                    <a:pt x="62295" y="0"/>
                  </a:cubicBezTo>
                  <a:close/>
                </a:path>
              </a:pathLst>
            </a:custGeom>
            <a:solidFill>
              <a:srgbClr val="031F27">
                <a:alpha val="4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5"/>
            <p:cNvSpPr txBox="1"/>
            <p:nvPr/>
          </p:nvSpPr>
          <p:spPr>
            <a:xfrm>
              <a:off x="0" y="-57150"/>
              <a:ext cx="1669315" cy="18807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5"/>
          <p:cNvSpPr txBox="1"/>
          <p:nvPr/>
        </p:nvSpPr>
        <p:spPr>
          <a:xfrm>
            <a:off x="1000250" y="3461250"/>
            <a:ext cx="5160900" cy="5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1911" lvl="1" marL="483822" marR="0" rtl="0" algn="l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Clr>
                <a:srgbClr val="E9E9E9"/>
              </a:buClr>
              <a:buSzPts val="2240"/>
              <a:buFont typeface="Arial"/>
              <a:buChar char="•"/>
            </a:pPr>
            <a:r>
              <a:rPr lang="en-US" sz="2240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Test bundle codes issued by physician show up as validated as completed or not -if one part of the bundle is not completed tokens are not issued</a:t>
            </a:r>
            <a:endParaRPr sz="2240">
              <a:solidFill>
                <a:srgbClr val="E9E9E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1911" lvl="1" marL="483822" marR="0" rtl="0" algn="l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Clr>
                <a:srgbClr val="E9E9E9"/>
              </a:buClr>
              <a:buSzPts val="2240"/>
              <a:buFont typeface="Montserrat"/>
              <a:buChar char="•"/>
            </a:pPr>
            <a:r>
              <a:rPr lang="en-US" sz="2240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We plan to stop over-issuing of tokens by limiting for example number of physicals/year or blood work done if no doctors note is provided as evidence for token to be issued</a:t>
            </a:r>
            <a:endParaRPr sz="2240">
              <a:solidFill>
                <a:srgbClr val="E9E9E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40">
              <a:solidFill>
                <a:srgbClr val="E9E9E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27" name="Google Shape;227;p5"/>
          <p:cNvGrpSpPr/>
          <p:nvPr/>
        </p:nvGrpSpPr>
        <p:grpSpPr>
          <a:xfrm>
            <a:off x="-103858" y="-393937"/>
            <a:ext cx="18495717" cy="1291980"/>
            <a:chOff x="0" y="-57150"/>
            <a:chExt cx="4871300" cy="340275"/>
          </a:xfrm>
        </p:grpSpPr>
        <p:sp>
          <p:nvSpPr>
            <p:cNvPr id="228" name="Google Shape;228;p5"/>
            <p:cNvSpPr/>
            <p:nvPr/>
          </p:nvSpPr>
          <p:spPr>
            <a:xfrm>
              <a:off x="0" y="0"/>
              <a:ext cx="4871300" cy="283125"/>
            </a:xfrm>
            <a:custGeom>
              <a:rect b="b" l="l" r="r" t="t"/>
              <a:pathLst>
                <a:path extrusionOk="0" h="283125" w="4871300">
                  <a:moveTo>
                    <a:pt x="0" y="0"/>
                  </a:moveTo>
                  <a:lnTo>
                    <a:pt x="4871300" y="0"/>
                  </a:lnTo>
                  <a:lnTo>
                    <a:pt x="4871300" y="283125"/>
                  </a:lnTo>
                  <a:lnTo>
                    <a:pt x="0" y="283125"/>
                  </a:lnTo>
                  <a:close/>
                </a:path>
              </a:pathLst>
            </a:custGeom>
            <a:solidFill>
              <a:srgbClr val="909EA8"/>
            </a:solidFill>
            <a:ln cap="sq" cmpd="sng" w="38100">
              <a:solidFill>
                <a:srgbClr val="9AA5A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5"/>
            <p:cNvSpPr txBox="1"/>
            <p:nvPr/>
          </p:nvSpPr>
          <p:spPr>
            <a:xfrm>
              <a:off x="0" y="-57150"/>
              <a:ext cx="4871300" cy="340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5"/>
          <p:cNvSpPr/>
          <p:nvPr/>
        </p:nvSpPr>
        <p:spPr>
          <a:xfrm>
            <a:off x="157053" y="-36238"/>
            <a:ext cx="2492687" cy="1007184"/>
          </a:xfrm>
          <a:custGeom>
            <a:rect b="b" l="l" r="r" t="t"/>
            <a:pathLst>
              <a:path extrusionOk="0" h="1007184" w="2492687">
                <a:moveTo>
                  <a:pt x="0" y="0"/>
                </a:moveTo>
                <a:lnTo>
                  <a:pt x="2492687" y="0"/>
                </a:lnTo>
                <a:lnTo>
                  <a:pt x="2492687" y="1007184"/>
                </a:lnTo>
                <a:lnTo>
                  <a:pt x="0" y="1007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82402" l="0" r="0" t="-746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15402555" y="102562"/>
            <a:ext cx="2184385" cy="795480"/>
          </a:xfrm>
          <a:custGeom>
            <a:rect b="b" l="l" r="r" t="t"/>
            <a:pathLst>
              <a:path extrusionOk="0" h="795480" w="2184385">
                <a:moveTo>
                  <a:pt x="0" y="0"/>
                </a:moveTo>
                <a:lnTo>
                  <a:pt x="2184385" y="0"/>
                </a:lnTo>
                <a:lnTo>
                  <a:pt x="2184385" y="795481"/>
                </a:lnTo>
                <a:lnTo>
                  <a:pt x="0" y="795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2" name="Google Shape;232;p5"/>
          <p:cNvGrpSpPr/>
          <p:nvPr/>
        </p:nvGrpSpPr>
        <p:grpSpPr>
          <a:xfrm>
            <a:off x="6939171" y="-136751"/>
            <a:ext cx="4686450" cy="1107697"/>
            <a:chOff x="0" y="0"/>
            <a:chExt cx="6248599" cy="1476929"/>
          </a:xfrm>
        </p:grpSpPr>
        <p:sp>
          <p:nvSpPr>
            <p:cNvPr id="233" name="Google Shape;233;p5"/>
            <p:cNvSpPr/>
            <p:nvPr/>
          </p:nvSpPr>
          <p:spPr>
            <a:xfrm>
              <a:off x="2104885" y="268004"/>
              <a:ext cx="4143714" cy="1102456"/>
            </a:xfrm>
            <a:custGeom>
              <a:rect b="b" l="l" r="r" t="t"/>
              <a:pathLst>
                <a:path extrusionOk="0" h="1102456" w="4143714">
                  <a:moveTo>
                    <a:pt x="0" y="0"/>
                  </a:moveTo>
                  <a:lnTo>
                    <a:pt x="4143713" y="0"/>
                  </a:lnTo>
                  <a:lnTo>
                    <a:pt x="4143713" y="1102456"/>
                  </a:lnTo>
                  <a:lnTo>
                    <a:pt x="0" y="11024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11941" l="-57458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0" y="0"/>
              <a:ext cx="2104885" cy="1476929"/>
            </a:xfrm>
            <a:custGeom>
              <a:rect b="b" l="l" r="r" t="t"/>
              <a:pathLst>
                <a:path extrusionOk="0" h="1476929" w="2104885">
                  <a:moveTo>
                    <a:pt x="0" y="0"/>
                  </a:moveTo>
                  <a:lnTo>
                    <a:pt x="2104885" y="0"/>
                  </a:lnTo>
                  <a:lnTo>
                    <a:pt x="2104885" y="1476929"/>
                  </a:lnTo>
                  <a:lnTo>
                    <a:pt x="0" y="14769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59755" l="0" r="-2144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http://localhost:8000</a:t>
            </a:r>
            <a:endParaRPr/>
          </a:p>
        </p:txBody>
      </p:sp>
      <p:pic>
        <p:nvPicPr>
          <p:cNvPr id="236" name="Google Shape;236;p5" title="Screen Shot 2026-05-23 at 2.46.14 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97074" y="3527912"/>
            <a:ext cx="4620049" cy="560118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http://localhost:8000</a:t>
            </a:r>
            <a:endParaRPr/>
          </a:p>
        </p:txBody>
      </p:sp>
      <p:pic>
        <p:nvPicPr>
          <p:cNvPr id="238" name="Google Shape;238;p5" title="Screen Shot 2026-05-23 at 2.50.45 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790874" y="3527925"/>
            <a:ext cx="4620049" cy="5601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2D38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/>
          <p:nvPr/>
        </p:nvSpPr>
        <p:spPr>
          <a:xfrm rot="-5494514">
            <a:off x="14254763" y="260848"/>
            <a:ext cx="4236264" cy="4506663"/>
          </a:xfrm>
          <a:custGeom>
            <a:rect b="b" l="l" r="r" t="t"/>
            <a:pathLst>
              <a:path extrusionOk="0" h="4504960" w="4234663">
                <a:moveTo>
                  <a:pt x="4234663" y="4504960"/>
                </a:moveTo>
                <a:lnTo>
                  <a:pt x="0" y="4504960"/>
                </a:lnTo>
                <a:lnTo>
                  <a:pt x="0" y="0"/>
                </a:lnTo>
                <a:lnTo>
                  <a:pt x="4234663" y="0"/>
                </a:lnTo>
                <a:lnTo>
                  <a:pt x="4234663" y="4504960"/>
                </a:lnTo>
                <a:close/>
              </a:path>
            </a:pathLst>
          </a:custGeom>
          <a:blipFill rotWithShape="1">
            <a:blip r:embed="rId3">
              <a:alphaModFix amt="6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 rot="-921333">
            <a:off x="14150394" y="7669696"/>
            <a:ext cx="4448038" cy="3174787"/>
          </a:xfrm>
          <a:custGeom>
            <a:rect b="b" l="l" r="r" t="t"/>
            <a:pathLst>
              <a:path extrusionOk="0" h="3172488" w="4444817">
                <a:moveTo>
                  <a:pt x="4444817" y="3172488"/>
                </a:moveTo>
                <a:lnTo>
                  <a:pt x="0" y="3172488"/>
                </a:lnTo>
                <a:lnTo>
                  <a:pt x="0" y="0"/>
                </a:lnTo>
                <a:lnTo>
                  <a:pt x="4444817" y="0"/>
                </a:lnTo>
                <a:lnTo>
                  <a:pt x="4444817" y="317248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 flipH="1" rot="-3667584">
            <a:off x="-1092033" y="914749"/>
            <a:ext cx="5922546" cy="4227217"/>
          </a:xfrm>
          <a:custGeom>
            <a:rect b="b" l="l" r="r" t="t"/>
            <a:pathLst>
              <a:path extrusionOk="0" h="4230537" w="5927197">
                <a:moveTo>
                  <a:pt x="0" y="4230537"/>
                </a:moveTo>
                <a:lnTo>
                  <a:pt x="5927197" y="4230537"/>
                </a:lnTo>
                <a:lnTo>
                  <a:pt x="5927197" y="0"/>
                </a:lnTo>
                <a:lnTo>
                  <a:pt x="0" y="0"/>
                </a:lnTo>
                <a:lnTo>
                  <a:pt x="0" y="4230537"/>
                </a:lnTo>
                <a:close/>
              </a:path>
            </a:pathLst>
          </a:custGeom>
          <a:blipFill rotWithShape="1">
            <a:blip r:embed="rId4">
              <a:alphaModFix amt="71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 rot="5305486">
            <a:off x="-428481" y="5655321"/>
            <a:ext cx="4732219" cy="5034276"/>
          </a:xfrm>
          <a:custGeom>
            <a:rect b="b" l="l" r="r" t="t"/>
            <a:pathLst>
              <a:path extrusionOk="0" h="5032373" w="4730431">
                <a:moveTo>
                  <a:pt x="0" y="0"/>
                </a:moveTo>
                <a:lnTo>
                  <a:pt x="4730430" y="0"/>
                </a:lnTo>
                <a:lnTo>
                  <a:pt x="4730430" y="5032374"/>
                </a:lnTo>
                <a:lnTo>
                  <a:pt x="0" y="5032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7" name="Google Shape;247;p6"/>
          <p:cNvGrpSpPr/>
          <p:nvPr/>
        </p:nvGrpSpPr>
        <p:grpSpPr>
          <a:xfrm>
            <a:off x="-103858" y="-393937"/>
            <a:ext cx="18496097" cy="1364884"/>
            <a:chOff x="0" y="-289322"/>
            <a:chExt cx="24661463" cy="1819845"/>
          </a:xfrm>
        </p:grpSpPr>
        <p:grpSp>
          <p:nvGrpSpPr>
            <p:cNvPr id="248" name="Google Shape;248;p6"/>
            <p:cNvGrpSpPr/>
            <p:nvPr/>
          </p:nvGrpSpPr>
          <p:grpSpPr>
            <a:xfrm>
              <a:off x="0" y="-289322"/>
              <a:ext cx="24661463" cy="1722642"/>
              <a:chOff x="0" y="-57150"/>
              <a:chExt cx="4871400" cy="340275"/>
            </a:xfrm>
          </p:grpSpPr>
          <p:sp>
            <p:nvSpPr>
              <p:cNvPr id="249" name="Google Shape;249;p6"/>
              <p:cNvSpPr/>
              <p:nvPr/>
            </p:nvSpPr>
            <p:spPr>
              <a:xfrm>
                <a:off x="0" y="0"/>
                <a:ext cx="4871300" cy="283125"/>
              </a:xfrm>
              <a:custGeom>
                <a:rect b="b" l="l" r="r" t="t"/>
                <a:pathLst>
                  <a:path extrusionOk="0" h="283125" w="4871300">
                    <a:moveTo>
                      <a:pt x="0" y="0"/>
                    </a:moveTo>
                    <a:lnTo>
                      <a:pt x="4871300" y="0"/>
                    </a:lnTo>
                    <a:lnTo>
                      <a:pt x="4871300" y="283125"/>
                    </a:lnTo>
                    <a:lnTo>
                      <a:pt x="0" y="283125"/>
                    </a:lnTo>
                    <a:close/>
                  </a:path>
                </a:pathLst>
              </a:custGeom>
              <a:solidFill>
                <a:srgbClr val="909EA8"/>
              </a:solidFill>
              <a:ln cap="sq" cmpd="sng" w="38100">
                <a:solidFill>
                  <a:srgbClr val="9AA5A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6"/>
              <p:cNvSpPr txBox="1"/>
              <p:nvPr/>
            </p:nvSpPr>
            <p:spPr>
              <a:xfrm>
                <a:off x="0" y="-57150"/>
                <a:ext cx="4871400" cy="34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525" lIns="47525" spcFirstLastPara="1" rIns="47525" wrap="square" tIns="47525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1" name="Google Shape;251;p6"/>
            <p:cNvSpPr/>
            <p:nvPr/>
          </p:nvSpPr>
          <p:spPr>
            <a:xfrm>
              <a:off x="347882" y="187611"/>
              <a:ext cx="3323582" cy="1342912"/>
            </a:xfrm>
            <a:custGeom>
              <a:rect b="b" l="l" r="r" t="t"/>
              <a:pathLst>
                <a:path extrusionOk="0" h="1342912" w="3323582">
                  <a:moveTo>
                    <a:pt x="0" y="0"/>
                  </a:moveTo>
                  <a:lnTo>
                    <a:pt x="3323583" y="0"/>
                  </a:lnTo>
                  <a:lnTo>
                    <a:pt x="3323583" y="1342912"/>
                  </a:lnTo>
                  <a:lnTo>
                    <a:pt x="0" y="13429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82402" l="0" r="0" t="-7462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20675218" y="372679"/>
              <a:ext cx="2912513" cy="1060640"/>
            </a:xfrm>
            <a:custGeom>
              <a:rect b="b" l="l" r="r" t="t"/>
              <a:pathLst>
                <a:path extrusionOk="0" h="1060640" w="2912513">
                  <a:moveTo>
                    <a:pt x="0" y="0"/>
                  </a:moveTo>
                  <a:lnTo>
                    <a:pt x="2912514" y="0"/>
                  </a:lnTo>
                  <a:lnTo>
                    <a:pt x="2912514" y="1060640"/>
                  </a:lnTo>
                  <a:lnTo>
                    <a:pt x="0" y="10606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11495590" y="321598"/>
              <a:ext cx="4143714" cy="1102456"/>
            </a:xfrm>
            <a:custGeom>
              <a:rect b="b" l="l" r="r" t="t"/>
              <a:pathLst>
                <a:path extrusionOk="0" h="1102456" w="4143714">
                  <a:moveTo>
                    <a:pt x="0" y="0"/>
                  </a:moveTo>
                  <a:lnTo>
                    <a:pt x="4143714" y="0"/>
                  </a:lnTo>
                  <a:lnTo>
                    <a:pt x="4143714" y="1102456"/>
                  </a:lnTo>
                  <a:lnTo>
                    <a:pt x="0" y="11024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11941" l="-57458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9390705" y="53594"/>
              <a:ext cx="2104885" cy="1476929"/>
            </a:xfrm>
            <a:custGeom>
              <a:rect b="b" l="l" r="r" t="t"/>
              <a:pathLst>
                <a:path extrusionOk="0" h="1476929" w="2104885">
                  <a:moveTo>
                    <a:pt x="0" y="0"/>
                  </a:moveTo>
                  <a:lnTo>
                    <a:pt x="2104885" y="0"/>
                  </a:lnTo>
                  <a:lnTo>
                    <a:pt x="2104885" y="1476929"/>
                  </a:lnTo>
                  <a:lnTo>
                    <a:pt x="0" y="14769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59755" l="0" r="-2144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6"/>
          <p:cNvGrpSpPr/>
          <p:nvPr/>
        </p:nvGrpSpPr>
        <p:grpSpPr>
          <a:xfrm>
            <a:off x="761984" y="2667000"/>
            <a:ext cx="9279926" cy="1905000"/>
            <a:chOff x="762000" y="2667000"/>
            <a:chExt cx="7143900" cy="1905000"/>
          </a:xfrm>
        </p:grpSpPr>
        <p:sp>
          <p:nvSpPr>
            <p:cNvPr id="256" name="Google Shape;256;p6"/>
            <p:cNvSpPr/>
            <p:nvPr/>
          </p:nvSpPr>
          <p:spPr>
            <a:xfrm>
              <a:off x="762000" y="2667000"/>
              <a:ext cx="7143900" cy="1905000"/>
            </a:xfrm>
            <a:prstGeom prst="roundRect">
              <a:avLst>
                <a:gd fmla="val 7500" name="adj"/>
              </a:avLst>
            </a:prstGeom>
            <a:solidFill>
              <a:srgbClr val="031F27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6"/>
            <p:cNvSpPr txBox="1"/>
            <p:nvPr/>
          </p:nvSpPr>
          <p:spPr>
            <a:xfrm>
              <a:off x="1047750" y="2857500"/>
              <a:ext cx="6572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9AA5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Strategic Focus</a:t>
              </a:r>
              <a:endParaRPr b="1" sz="1400">
                <a:solidFill>
                  <a:srgbClr val="9AA5A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E9E9E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Target Buyer: </a:t>
              </a:r>
              <a:r>
                <a:rPr b="1"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Government</a:t>
              </a:r>
              <a:endParaRPr b="0" sz="2400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Deployment Setting: Patient</a:t>
              </a:r>
              <a:r>
                <a:rPr lang="en-US" sz="18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-facing</a:t>
              </a:r>
              <a:r>
                <a:rPr lang="en-US" sz="18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app in UAE</a:t>
              </a:r>
              <a:endParaRPr sz="18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58" name="Google Shape;258;p6"/>
          <p:cNvGrpSpPr/>
          <p:nvPr/>
        </p:nvGrpSpPr>
        <p:grpSpPr>
          <a:xfrm>
            <a:off x="762000" y="4762500"/>
            <a:ext cx="16764000" cy="4572150"/>
            <a:chOff x="762000" y="4762500"/>
            <a:chExt cx="16764000" cy="4572150"/>
          </a:xfrm>
        </p:grpSpPr>
        <p:sp>
          <p:nvSpPr>
            <p:cNvPr id="259" name="Google Shape;259;p6"/>
            <p:cNvSpPr/>
            <p:nvPr/>
          </p:nvSpPr>
          <p:spPr>
            <a:xfrm>
              <a:off x="762000" y="4762500"/>
              <a:ext cx="16764000" cy="45720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6"/>
            <p:cNvSpPr txBox="1"/>
            <p:nvPr/>
          </p:nvSpPr>
          <p:spPr>
            <a:xfrm>
              <a:off x="1047750" y="4953000"/>
              <a:ext cx="1619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42D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Resource &amp; Materials Budget:</a:t>
              </a:r>
              <a:endParaRPr b="1" sz="2000">
                <a:solidFill>
                  <a:srgbClr val="042D3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61" name="Google Shape;261;p6"/>
            <p:cNvGrpSpPr/>
            <p:nvPr/>
          </p:nvGrpSpPr>
          <p:grpSpPr>
            <a:xfrm>
              <a:off x="1047750" y="5619750"/>
              <a:ext cx="16192650" cy="571500"/>
              <a:chOff x="0" y="0"/>
              <a:chExt cx="16192650" cy="571500"/>
            </a:xfrm>
          </p:grpSpPr>
          <p:sp>
            <p:nvSpPr>
              <p:cNvPr id="262" name="Google Shape;262;p6"/>
              <p:cNvSpPr/>
              <p:nvPr/>
            </p:nvSpPr>
            <p:spPr>
              <a:xfrm>
                <a:off x="0" y="0"/>
                <a:ext cx="7620000" cy="57150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6"/>
              <p:cNvSpPr/>
              <p:nvPr/>
            </p:nvSpPr>
            <p:spPr>
              <a:xfrm>
                <a:off x="7620000" y="0"/>
                <a:ext cx="4286400" cy="57150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6"/>
              <p:cNvSpPr/>
              <p:nvPr/>
            </p:nvSpPr>
            <p:spPr>
              <a:xfrm>
                <a:off x="11906250" y="0"/>
                <a:ext cx="4286400" cy="57150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6"/>
              <p:cNvSpPr txBox="1"/>
              <p:nvPr/>
            </p:nvSpPr>
            <p:spPr>
              <a:xfrm>
                <a:off x="0" y="0"/>
                <a:ext cx="7620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9050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47556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Core Requirement Category</a:t>
                </a:r>
                <a:endParaRPr b="1" sz="14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66" name="Google Shape;266;p6"/>
              <p:cNvSpPr txBox="1"/>
              <p:nvPr/>
            </p:nvSpPr>
            <p:spPr>
              <a:xfrm>
                <a:off x="7620000" y="0"/>
                <a:ext cx="4286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47556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Estimated Cost (USD)</a:t>
                </a:r>
                <a:endParaRPr b="1" sz="14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67" name="Google Shape;267;p6"/>
              <p:cNvSpPr txBox="1"/>
              <p:nvPr/>
            </p:nvSpPr>
            <p:spPr>
              <a:xfrm>
                <a:off x="11906250" y="0"/>
                <a:ext cx="4286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47556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Estimated Cost (AED)</a:t>
                </a:r>
                <a:endParaRPr b="1" sz="14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68" name="Google Shape;268;p6"/>
            <p:cNvGrpSpPr/>
            <p:nvPr/>
          </p:nvGrpSpPr>
          <p:grpSpPr>
            <a:xfrm>
              <a:off x="1047750" y="6191250"/>
              <a:ext cx="16192650" cy="952500"/>
              <a:chOff x="0" y="0"/>
              <a:chExt cx="16192650" cy="952500"/>
            </a:xfrm>
          </p:grpSpPr>
          <p:sp>
            <p:nvSpPr>
              <p:cNvPr id="269" name="Google Shape;269;p6"/>
              <p:cNvSpPr txBox="1"/>
              <p:nvPr/>
            </p:nvSpPr>
            <p:spPr>
              <a:xfrm>
                <a:off x="0" y="0"/>
                <a:ext cx="7620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9050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293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1. Digital &amp; Software Assets</a:t>
                </a:r>
                <a:endParaRPr b="1" sz="13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Cloud server space, private blockchain nodes, secure API keys, middleware setup</a:t>
                </a:r>
                <a:endParaRPr sz="110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70" name="Google Shape;270;p6"/>
              <p:cNvSpPr txBox="1"/>
              <p:nvPr/>
            </p:nvSpPr>
            <p:spPr>
              <a:xfrm>
                <a:off x="7620000" y="0"/>
                <a:ext cx="4286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1E293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$24,500</a:t>
                </a:r>
                <a:endParaRPr sz="1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71" name="Google Shape;271;p6"/>
              <p:cNvSpPr txBox="1"/>
              <p:nvPr/>
            </p:nvSpPr>
            <p:spPr>
              <a:xfrm>
                <a:off x="11906250" y="0"/>
                <a:ext cx="4286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1E293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AED 90,000</a:t>
                </a:r>
                <a:endParaRPr sz="1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cxnSp>
            <p:nvCxnSpPr>
              <p:cNvPr id="272" name="Google Shape;272;p6"/>
              <p:cNvCxnSpPr/>
              <p:nvPr/>
            </p:nvCxnSpPr>
            <p:spPr>
              <a:xfrm>
                <a:off x="0" y="952500"/>
                <a:ext cx="16192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73" name="Google Shape;273;p6"/>
            <p:cNvGrpSpPr/>
            <p:nvPr/>
          </p:nvGrpSpPr>
          <p:grpSpPr>
            <a:xfrm>
              <a:off x="1047750" y="7143750"/>
              <a:ext cx="16192650" cy="762000"/>
              <a:chOff x="0" y="0"/>
              <a:chExt cx="16192650" cy="762000"/>
            </a:xfrm>
          </p:grpSpPr>
          <p:sp>
            <p:nvSpPr>
              <p:cNvPr id="274" name="Google Shape;274;p6"/>
              <p:cNvSpPr txBox="1"/>
              <p:nvPr/>
            </p:nvSpPr>
            <p:spPr>
              <a:xfrm>
                <a:off x="0" y="0"/>
                <a:ext cx="7620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9050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293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2. Physical &amp; Hardware Materials</a:t>
                </a:r>
                <a:endParaRPr b="1" sz="13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Sensors, microcontrollers, casing</a:t>
                </a:r>
                <a:endParaRPr sz="110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75" name="Google Shape;275;p6"/>
              <p:cNvSpPr txBox="1"/>
              <p:nvPr/>
            </p:nvSpPr>
            <p:spPr>
              <a:xfrm>
                <a:off x="7620000" y="0"/>
                <a:ext cx="4286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1E293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$0</a:t>
                </a:r>
                <a:endParaRPr sz="1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76" name="Google Shape;276;p6"/>
              <p:cNvSpPr txBox="1"/>
              <p:nvPr/>
            </p:nvSpPr>
            <p:spPr>
              <a:xfrm>
                <a:off x="11906250" y="0"/>
                <a:ext cx="4286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1E293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AED 0</a:t>
                </a:r>
                <a:endParaRPr sz="1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cxnSp>
            <p:nvCxnSpPr>
              <p:cNvPr id="277" name="Google Shape;277;p6"/>
              <p:cNvCxnSpPr/>
              <p:nvPr/>
            </p:nvCxnSpPr>
            <p:spPr>
              <a:xfrm>
                <a:off x="0" y="762000"/>
                <a:ext cx="16192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78" name="Google Shape;278;p6"/>
            <p:cNvGrpSpPr/>
            <p:nvPr/>
          </p:nvGrpSpPr>
          <p:grpSpPr>
            <a:xfrm>
              <a:off x="1047750" y="7905750"/>
              <a:ext cx="16192650" cy="952500"/>
              <a:chOff x="0" y="0"/>
              <a:chExt cx="16192650" cy="952500"/>
            </a:xfrm>
          </p:grpSpPr>
          <p:sp>
            <p:nvSpPr>
              <p:cNvPr id="279" name="Google Shape;279;p6"/>
              <p:cNvSpPr txBox="1"/>
              <p:nvPr/>
            </p:nvSpPr>
            <p:spPr>
              <a:xfrm>
                <a:off x="0" y="0"/>
                <a:ext cx="7620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9050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293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3. Operational &amp; Licensing Costs</a:t>
                </a:r>
                <a:endParaRPr b="1" sz="13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Hospital deployment via HIE gateways, security audit, compliance check</a:t>
                </a:r>
                <a:endParaRPr sz="110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80" name="Google Shape;280;p6"/>
              <p:cNvSpPr txBox="1"/>
              <p:nvPr/>
            </p:nvSpPr>
            <p:spPr>
              <a:xfrm>
                <a:off x="7620000" y="0"/>
                <a:ext cx="4286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1E293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$43,500</a:t>
                </a:r>
                <a:endParaRPr sz="1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81" name="Google Shape;281;p6"/>
              <p:cNvSpPr txBox="1"/>
              <p:nvPr/>
            </p:nvSpPr>
            <p:spPr>
              <a:xfrm>
                <a:off x="11906250" y="0"/>
                <a:ext cx="4286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1E293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AED 160,000</a:t>
                </a:r>
                <a:endParaRPr sz="1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cxnSp>
            <p:nvCxnSpPr>
              <p:cNvPr id="282" name="Google Shape;282;p6"/>
              <p:cNvCxnSpPr/>
              <p:nvPr/>
            </p:nvCxnSpPr>
            <p:spPr>
              <a:xfrm>
                <a:off x="0" y="952500"/>
                <a:ext cx="16192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83" name="Google Shape;283;p6"/>
            <p:cNvGrpSpPr/>
            <p:nvPr/>
          </p:nvGrpSpPr>
          <p:grpSpPr>
            <a:xfrm>
              <a:off x="1047750" y="8858250"/>
              <a:ext cx="16192650" cy="476400"/>
              <a:chOff x="0" y="0"/>
              <a:chExt cx="16192650" cy="476400"/>
            </a:xfrm>
          </p:grpSpPr>
          <p:sp>
            <p:nvSpPr>
              <p:cNvPr id="284" name="Google Shape;284;p6"/>
              <p:cNvSpPr/>
              <p:nvPr/>
            </p:nvSpPr>
            <p:spPr>
              <a:xfrm>
                <a:off x="0" y="0"/>
                <a:ext cx="7620000" cy="476400"/>
              </a:xfrm>
              <a:prstGeom prst="rect">
                <a:avLst/>
              </a:prstGeom>
              <a:solidFill>
                <a:srgbClr val="042D3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6"/>
              <p:cNvSpPr/>
              <p:nvPr/>
            </p:nvSpPr>
            <p:spPr>
              <a:xfrm>
                <a:off x="7620000" y="0"/>
                <a:ext cx="4286400" cy="476400"/>
              </a:xfrm>
              <a:prstGeom prst="rect">
                <a:avLst/>
              </a:prstGeom>
              <a:solidFill>
                <a:srgbClr val="042D3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6"/>
              <p:cNvSpPr/>
              <p:nvPr/>
            </p:nvSpPr>
            <p:spPr>
              <a:xfrm>
                <a:off x="11906250" y="0"/>
                <a:ext cx="4286400" cy="476400"/>
              </a:xfrm>
              <a:prstGeom prst="rect">
                <a:avLst/>
              </a:prstGeom>
              <a:solidFill>
                <a:srgbClr val="042D3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 txBox="1"/>
              <p:nvPr/>
            </p:nvSpPr>
            <p:spPr>
              <a:xfrm>
                <a:off x="0" y="0"/>
                <a:ext cx="7620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9050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Total Pilot Estimate</a:t>
                </a:r>
                <a:endParaRPr b="1" sz="15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88" name="Google Shape;288;p6"/>
              <p:cNvSpPr txBox="1"/>
              <p:nvPr/>
            </p:nvSpPr>
            <p:spPr>
              <a:xfrm>
                <a:off x="7620000" y="0"/>
                <a:ext cx="428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$68,000</a:t>
                </a:r>
                <a:endParaRPr b="1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89" name="Google Shape;289;p6"/>
              <p:cNvSpPr txBox="1"/>
              <p:nvPr/>
            </p:nvSpPr>
            <p:spPr>
              <a:xfrm>
                <a:off x="11906250" y="0"/>
                <a:ext cx="428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AED 250,000</a:t>
                </a:r>
                <a:endParaRPr b="1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290" name="Google Shape;290;p6"/>
          <p:cNvSpPr txBox="1"/>
          <p:nvPr/>
        </p:nvSpPr>
        <p:spPr>
          <a:xfrm>
            <a:off x="762000" y="1333500"/>
            <a:ext cx="7620000" cy="110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200">
                <a:solidFill>
                  <a:srgbClr val="E9E9E9"/>
                </a:solidFill>
                <a:latin typeface="Anton"/>
                <a:ea typeface="Anton"/>
                <a:cs typeface="Anton"/>
                <a:sym typeface="Anton"/>
              </a:rPr>
              <a:t>BUSINESS MODEL</a:t>
            </a:r>
            <a:endParaRPr b="0" sz="7200">
              <a:solidFill>
                <a:srgbClr val="E9E9E9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2D38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43a6fa99a_1_59"/>
          <p:cNvSpPr/>
          <p:nvPr/>
        </p:nvSpPr>
        <p:spPr>
          <a:xfrm rot="-5494514">
            <a:off x="14254763" y="260848"/>
            <a:ext cx="4236264" cy="4506663"/>
          </a:xfrm>
          <a:custGeom>
            <a:rect b="b" l="l" r="r" t="t"/>
            <a:pathLst>
              <a:path extrusionOk="0" h="4504960" w="4234663">
                <a:moveTo>
                  <a:pt x="4234663" y="4504960"/>
                </a:moveTo>
                <a:lnTo>
                  <a:pt x="0" y="4504960"/>
                </a:lnTo>
                <a:lnTo>
                  <a:pt x="0" y="0"/>
                </a:lnTo>
                <a:lnTo>
                  <a:pt x="4234663" y="0"/>
                </a:lnTo>
                <a:lnTo>
                  <a:pt x="4234663" y="4504960"/>
                </a:lnTo>
                <a:close/>
              </a:path>
            </a:pathLst>
          </a:custGeom>
          <a:blipFill rotWithShape="1">
            <a:blip r:embed="rId3">
              <a:alphaModFix amt="6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e43a6fa99a_1_59"/>
          <p:cNvSpPr/>
          <p:nvPr/>
        </p:nvSpPr>
        <p:spPr>
          <a:xfrm rot="-921333">
            <a:off x="14150394" y="7669696"/>
            <a:ext cx="4448038" cy="3174787"/>
          </a:xfrm>
          <a:custGeom>
            <a:rect b="b" l="l" r="r" t="t"/>
            <a:pathLst>
              <a:path extrusionOk="0" h="3172488" w="4444817">
                <a:moveTo>
                  <a:pt x="4444817" y="3172488"/>
                </a:moveTo>
                <a:lnTo>
                  <a:pt x="0" y="3172488"/>
                </a:lnTo>
                <a:lnTo>
                  <a:pt x="0" y="0"/>
                </a:lnTo>
                <a:lnTo>
                  <a:pt x="4444817" y="0"/>
                </a:lnTo>
                <a:lnTo>
                  <a:pt x="4444817" y="317248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e43a6fa99a_1_59"/>
          <p:cNvSpPr/>
          <p:nvPr/>
        </p:nvSpPr>
        <p:spPr>
          <a:xfrm flipH="1" rot="-3667584">
            <a:off x="-1092033" y="914749"/>
            <a:ext cx="5922546" cy="4227217"/>
          </a:xfrm>
          <a:custGeom>
            <a:rect b="b" l="l" r="r" t="t"/>
            <a:pathLst>
              <a:path extrusionOk="0" h="4230537" w="5927197">
                <a:moveTo>
                  <a:pt x="0" y="4230537"/>
                </a:moveTo>
                <a:lnTo>
                  <a:pt x="5927197" y="4230537"/>
                </a:lnTo>
                <a:lnTo>
                  <a:pt x="5927197" y="0"/>
                </a:lnTo>
                <a:lnTo>
                  <a:pt x="0" y="0"/>
                </a:lnTo>
                <a:lnTo>
                  <a:pt x="0" y="4230537"/>
                </a:lnTo>
                <a:close/>
              </a:path>
            </a:pathLst>
          </a:custGeom>
          <a:blipFill rotWithShape="1">
            <a:blip r:embed="rId4">
              <a:alphaModFix amt="71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e43a6fa99a_1_59"/>
          <p:cNvSpPr/>
          <p:nvPr/>
        </p:nvSpPr>
        <p:spPr>
          <a:xfrm rot="5305486">
            <a:off x="-428481" y="5655321"/>
            <a:ext cx="4732219" cy="5034276"/>
          </a:xfrm>
          <a:custGeom>
            <a:rect b="b" l="l" r="r" t="t"/>
            <a:pathLst>
              <a:path extrusionOk="0" h="5032373" w="4730431">
                <a:moveTo>
                  <a:pt x="0" y="0"/>
                </a:moveTo>
                <a:lnTo>
                  <a:pt x="4730430" y="0"/>
                </a:lnTo>
                <a:lnTo>
                  <a:pt x="4730430" y="5032374"/>
                </a:lnTo>
                <a:lnTo>
                  <a:pt x="0" y="5032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" name="Google Shape;299;g3e43a6fa99a_1_59"/>
          <p:cNvGrpSpPr/>
          <p:nvPr/>
        </p:nvGrpSpPr>
        <p:grpSpPr>
          <a:xfrm>
            <a:off x="-103858" y="-393937"/>
            <a:ext cx="18496097" cy="1364884"/>
            <a:chOff x="0" y="-289322"/>
            <a:chExt cx="24661463" cy="1819845"/>
          </a:xfrm>
        </p:grpSpPr>
        <p:grpSp>
          <p:nvGrpSpPr>
            <p:cNvPr id="300" name="Google Shape;300;g3e43a6fa99a_1_59"/>
            <p:cNvGrpSpPr/>
            <p:nvPr/>
          </p:nvGrpSpPr>
          <p:grpSpPr>
            <a:xfrm>
              <a:off x="0" y="-289322"/>
              <a:ext cx="24661463" cy="1722642"/>
              <a:chOff x="0" y="-57150"/>
              <a:chExt cx="4871400" cy="340275"/>
            </a:xfrm>
          </p:grpSpPr>
          <p:sp>
            <p:nvSpPr>
              <p:cNvPr id="301" name="Google Shape;301;g3e43a6fa99a_1_59"/>
              <p:cNvSpPr/>
              <p:nvPr/>
            </p:nvSpPr>
            <p:spPr>
              <a:xfrm>
                <a:off x="0" y="0"/>
                <a:ext cx="4871300" cy="283125"/>
              </a:xfrm>
              <a:custGeom>
                <a:rect b="b" l="l" r="r" t="t"/>
                <a:pathLst>
                  <a:path extrusionOk="0" h="283125" w="4871300">
                    <a:moveTo>
                      <a:pt x="0" y="0"/>
                    </a:moveTo>
                    <a:lnTo>
                      <a:pt x="4871300" y="0"/>
                    </a:lnTo>
                    <a:lnTo>
                      <a:pt x="4871300" y="283125"/>
                    </a:lnTo>
                    <a:lnTo>
                      <a:pt x="0" y="283125"/>
                    </a:lnTo>
                    <a:close/>
                  </a:path>
                </a:pathLst>
              </a:custGeom>
              <a:solidFill>
                <a:srgbClr val="909EA8"/>
              </a:solidFill>
              <a:ln cap="sq" cmpd="sng" w="38100">
                <a:solidFill>
                  <a:srgbClr val="9AA5A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g3e43a6fa99a_1_59"/>
              <p:cNvSpPr txBox="1"/>
              <p:nvPr/>
            </p:nvSpPr>
            <p:spPr>
              <a:xfrm>
                <a:off x="0" y="-57150"/>
                <a:ext cx="4871400" cy="34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525" lIns="47525" spcFirstLastPara="1" rIns="47525" wrap="square" tIns="47525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3" name="Google Shape;303;g3e43a6fa99a_1_59"/>
            <p:cNvSpPr/>
            <p:nvPr/>
          </p:nvSpPr>
          <p:spPr>
            <a:xfrm>
              <a:off x="347882" y="187611"/>
              <a:ext cx="3323582" cy="1342912"/>
            </a:xfrm>
            <a:custGeom>
              <a:rect b="b" l="l" r="r" t="t"/>
              <a:pathLst>
                <a:path extrusionOk="0" h="1342912" w="3323582">
                  <a:moveTo>
                    <a:pt x="0" y="0"/>
                  </a:moveTo>
                  <a:lnTo>
                    <a:pt x="3323583" y="0"/>
                  </a:lnTo>
                  <a:lnTo>
                    <a:pt x="3323583" y="1342912"/>
                  </a:lnTo>
                  <a:lnTo>
                    <a:pt x="0" y="13429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82402" l="0" r="0" t="-7462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g3e43a6fa99a_1_59"/>
            <p:cNvSpPr/>
            <p:nvPr/>
          </p:nvSpPr>
          <p:spPr>
            <a:xfrm>
              <a:off x="20675218" y="372679"/>
              <a:ext cx="2912513" cy="1060640"/>
            </a:xfrm>
            <a:custGeom>
              <a:rect b="b" l="l" r="r" t="t"/>
              <a:pathLst>
                <a:path extrusionOk="0" h="1060640" w="2912513">
                  <a:moveTo>
                    <a:pt x="0" y="0"/>
                  </a:moveTo>
                  <a:lnTo>
                    <a:pt x="2912514" y="0"/>
                  </a:lnTo>
                  <a:lnTo>
                    <a:pt x="2912514" y="1060640"/>
                  </a:lnTo>
                  <a:lnTo>
                    <a:pt x="0" y="10606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g3e43a6fa99a_1_59"/>
            <p:cNvSpPr/>
            <p:nvPr/>
          </p:nvSpPr>
          <p:spPr>
            <a:xfrm>
              <a:off x="11495590" y="321598"/>
              <a:ext cx="4143714" cy="1102456"/>
            </a:xfrm>
            <a:custGeom>
              <a:rect b="b" l="l" r="r" t="t"/>
              <a:pathLst>
                <a:path extrusionOk="0" h="1102456" w="4143714">
                  <a:moveTo>
                    <a:pt x="0" y="0"/>
                  </a:moveTo>
                  <a:lnTo>
                    <a:pt x="4143714" y="0"/>
                  </a:lnTo>
                  <a:lnTo>
                    <a:pt x="4143714" y="1102456"/>
                  </a:lnTo>
                  <a:lnTo>
                    <a:pt x="0" y="11024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11939" l="-5746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g3e43a6fa99a_1_59"/>
            <p:cNvSpPr/>
            <p:nvPr/>
          </p:nvSpPr>
          <p:spPr>
            <a:xfrm>
              <a:off x="9390705" y="53594"/>
              <a:ext cx="2104885" cy="1476929"/>
            </a:xfrm>
            <a:custGeom>
              <a:rect b="b" l="l" r="r" t="t"/>
              <a:pathLst>
                <a:path extrusionOk="0" h="1476929" w="2104885">
                  <a:moveTo>
                    <a:pt x="0" y="0"/>
                  </a:moveTo>
                  <a:lnTo>
                    <a:pt x="2104885" y="0"/>
                  </a:lnTo>
                  <a:lnTo>
                    <a:pt x="2104885" y="1476929"/>
                  </a:lnTo>
                  <a:lnTo>
                    <a:pt x="0" y="14769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59750" l="0" r="-2144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7" name="Google Shape;307;g3e43a6fa99a_1_5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95275" y="888700"/>
            <a:ext cx="14097450" cy="9398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e43a6fa99a_1_59"/>
          <p:cNvSpPr txBox="1"/>
          <p:nvPr/>
        </p:nvSpPr>
        <p:spPr>
          <a:xfrm>
            <a:off x="14122725" y="9886800"/>
            <a:ext cx="207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7B8B"/>
                </a:solidFill>
                <a:latin typeface="Calibri"/>
                <a:ea typeface="Calibri"/>
                <a:cs typeface="Calibri"/>
                <a:sym typeface="Calibri"/>
              </a:rPr>
              <a:t>Ai generated image</a:t>
            </a:r>
            <a:endParaRPr>
              <a:solidFill>
                <a:srgbClr val="107B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2D38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"/>
          <p:cNvSpPr/>
          <p:nvPr/>
        </p:nvSpPr>
        <p:spPr>
          <a:xfrm rot="-5494839">
            <a:off x="14254528" y="262316"/>
            <a:ext cx="4234663" cy="4504960"/>
          </a:xfrm>
          <a:custGeom>
            <a:rect b="b" l="l" r="r" t="t"/>
            <a:pathLst>
              <a:path extrusionOk="0" h="4504960" w="4234663">
                <a:moveTo>
                  <a:pt x="4234663" y="4504960"/>
                </a:moveTo>
                <a:lnTo>
                  <a:pt x="0" y="4504960"/>
                </a:lnTo>
                <a:lnTo>
                  <a:pt x="0" y="0"/>
                </a:lnTo>
                <a:lnTo>
                  <a:pt x="4234663" y="0"/>
                </a:lnTo>
                <a:lnTo>
                  <a:pt x="4234663" y="4504960"/>
                </a:lnTo>
                <a:close/>
              </a:path>
            </a:pathLst>
          </a:custGeom>
          <a:blipFill rotWithShape="1">
            <a:blip r:embed="rId3">
              <a:alphaModFix amt="6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 rot="-918794">
            <a:off x="14149451" y="7672056"/>
            <a:ext cx="4444817" cy="3172488"/>
          </a:xfrm>
          <a:custGeom>
            <a:rect b="b" l="l" r="r" t="t"/>
            <a:pathLst>
              <a:path extrusionOk="0" h="3172488" w="4444817">
                <a:moveTo>
                  <a:pt x="4444817" y="3172488"/>
                </a:moveTo>
                <a:lnTo>
                  <a:pt x="0" y="3172488"/>
                </a:lnTo>
                <a:lnTo>
                  <a:pt x="0" y="0"/>
                </a:lnTo>
                <a:lnTo>
                  <a:pt x="4444817" y="0"/>
                </a:lnTo>
                <a:lnTo>
                  <a:pt x="4444817" y="317248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 flipH="1" rot="-3666610">
            <a:off x="-1095053" y="916046"/>
            <a:ext cx="5927197" cy="4230537"/>
          </a:xfrm>
          <a:custGeom>
            <a:rect b="b" l="l" r="r" t="t"/>
            <a:pathLst>
              <a:path extrusionOk="0" h="4230537" w="5927197">
                <a:moveTo>
                  <a:pt x="0" y="4230537"/>
                </a:moveTo>
                <a:lnTo>
                  <a:pt x="5927197" y="4230537"/>
                </a:lnTo>
                <a:lnTo>
                  <a:pt x="5927197" y="0"/>
                </a:lnTo>
                <a:lnTo>
                  <a:pt x="0" y="0"/>
                </a:lnTo>
                <a:lnTo>
                  <a:pt x="0" y="4230537"/>
                </a:lnTo>
                <a:close/>
              </a:path>
            </a:pathLst>
          </a:custGeom>
          <a:blipFill rotWithShape="1">
            <a:blip r:embed="rId4">
              <a:alphaModFix amt="71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 rot="5305161">
            <a:off x="-426431" y="5655584"/>
            <a:ext cx="4730431" cy="5032373"/>
          </a:xfrm>
          <a:custGeom>
            <a:rect b="b" l="l" r="r" t="t"/>
            <a:pathLst>
              <a:path extrusionOk="0" h="5032373" w="4730431">
                <a:moveTo>
                  <a:pt x="0" y="0"/>
                </a:moveTo>
                <a:lnTo>
                  <a:pt x="4730430" y="0"/>
                </a:lnTo>
                <a:lnTo>
                  <a:pt x="4730430" y="5032374"/>
                </a:lnTo>
                <a:lnTo>
                  <a:pt x="0" y="5032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 txBox="1"/>
          <p:nvPr/>
        </p:nvSpPr>
        <p:spPr>
          <a:xfrm>
            <a:off x="5561038" y="3967428"/>
            <a:ext cx="71658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00">
                <a:solidFill>
                  <a:srgbClr val="E9E9E9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  <a:endParaRPr sz="1700"/>
          </a:p>
        </p:txBody>
      </p:sp>
      <p:sp>
        <p:nvSpPr>
          <p:cNvPr id="318" name="Google Shape;318;p7"/>
          <p:cNvSpPr txBox="1"/>
          <p:nvPr/>
        </p:nvSpPr>
        <p:spPr>
          <a:xfrm>
            <a:off x="5561100" y="5943125"/>
            <a:ext cx="71658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Prevention should not depend on memory alone</a:t>
            </a:r>
            <a:endParaRPr b="1" sz="3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19" name="Google Shape;319;p7"/>
          <p:cNvGrpSpPr/>
          <p:nvPr/>
        </p:nvGrpSpPr>
        <p:grpSpPr>
          <a:xfrm>
            <a:off x="-103858" y="-393937"/>
            <a:ext cx="18495717" cy="1364883"/>
            <a:chOff x="0" y="-289322"/>
            <a:chExt cx="24660956" cy="1819845"/>
          </a:xfrm>
        </p:grpSpPr>
        <p:grpSp>
          <p:nvGrpSpPr>
            <p:cNvPr id="320" name="Google Shape;320;p7"/>
            <p:cNvGrpSpPr/>
            <p:nvPr/>
          </p:nvGrpSpPr>
          <p:grpSpPr>
            <a:xfrm>
              <a:off x="0" y="-289322"/>
              <a:ext cx="24660956" cy="1722641"/>
              <a:chOff x="0" y="-57150"/>
              <a:chExt cx="4871300" cy="340275"/>
            </a:xfrm>
          </p:grpSpPr>
          <p:sp>
            <p:nvSpPr>
              <p:cNvPr id="321" name="Google Shape;321;p7"/>
              <p:cNvSpPr/>
              <p:nvPr/>
            </p:nvSpPr>
            <p:spPr>
              <a:xfrm>
                <a:off x="0" y="0"/>
                <a:ext cx="4871300" cy="283125"/>
              </a:xfrm>
              <a:custGeom>
                <a:rect b="b" l="l" r="r" t="t"/>
                <a:pathLst>
                  <a:path extrusionOk="0" h="283125" w="4871300">
                    <a:moveTo>
                      <a:pt x="0" y="0"/>
                    </a:moveTo>
                    <a:lnTo>
                      <a:pt x="4871300" y="0"/>
                    </a:lnTo>
                    <a:lnTo>
                      <a:pt x="4871300" y="283125"/>
                    </a:lnTo>
                    <a:lnTo>
                      <a:pt x="0" y="283125"/>
                    </a:lnTo>
                    <a:close/>
                  </a:path>
                </a:pathLst>
              </a:custGeom>
              <a:solidFill>
                <a:srgbClr val="909EA8"/>
              </a:solidFill>
              <a:ln cap="sq" cmpd="sng" w="38100">
                <a:solidFill>
                  <a:srgbClr val="9AA5A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7"/>
              <p:cNvSpPr txBox="1"/>
              <p:nvPr/>
            </p:nvSpPr>
            <p:spPr>
              <a:xfrm>
                <a:off x="0" y="-57150"/>
                <a:ext cx="4871300" cy="340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525" lIns="47525" spcFirstLastPara="1" rIns="47525" wrap="square" tIns="47525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3" name="Google Shape;323;p7"/>
            <p:cNvSpPr/>
            <p:nvPr/>
          </p:nvSpPr>
          <p:spPr>
            <a:xfrm>
              <a:off x="347882" y="187611"/>
              <a:ext cx="3323582" cy="1342912"/>
            </a:xfrm>
            <a:custGeom>
              <a:rect b="b" l="l" r="r" t="t"/>
              <a:pathLst>
                <a:path extrusionOk="0" h="1342912" w="3323582">
                  <a:moveTo>
                    <a:pt x="0" y="0"/>
                  </a:moveTo>
                  <a:lnTo>
                    <a:pt x="3323583" y="0"/>
                  </a:lnTo>
                  <a:lnTo>
                    <a:pt x="3323583" y="1342912"/>
                  </a:lnTo>
                  <a:lnTo>
                    <a:pt x="0" y="13429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82402" l="0" r="0" t="-7462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20675218" y="372679"/>
              <a:ext cx="2912513" cy="1060640"/>
            </a:xfrm>
            <a:custGeom>
              <a:rect b="b" l="l" r="r" t="t"/>
              <a:pathLst>
                <a:path extrusionOk="0" h="1060640" w="2912513">
                  <a:moveTo>
                    <a:pt x="0" y="0"/>
                  </a:moveTo>
                  <a:lnTo>
                    <a:pt x="2912514" y="0"/>
                  </a:lnTo>
                  <a:lnTo>
                    <a:pt x="2912514" y="1060640"/>
                  </a:lnTo>
                  <a:lnTo>
                    <a:pt x="0" y="10606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11495590" y="321598"/>
              <a:ext cx="4143714" cy="1102456"/>
            </a:xfrm>
            <a:custGeom>
              <a:rect b="b" l="l" r="r" t="t"/>
              <a:pathLst>
                <a:path extrusionOk="0" h="1102456" w="4143714">
                  <a:moveTo>
                    <a:pt x="0" y="0"/>
                  </a:moveTo>
                  <a:lnTo>
                    <a:pt x="4143714" y="0"/>
                  </a:lnTo>
                  <a:lnTo>
                    <a:pt x="4143714" y="1102456"/>
                  </a:lnTo>
                  <a:lnTo>
                    <a:pt x="0" y="11024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11941" l="-57458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9390705" y="53594"/>
              <a:ext cx="2104885" cy="1476929"/>
            </a:xfrm>
            <a:custGeom>
              <a:rect b="b" l="l" r="r" t="t"/>
              <a:pathLst>
                <a:path extrusionOk="0" h="1476929" w="2104885">
                  <a:moveTo>
                    <a:pt x="0" y="0"/>
                  </a:moveTo>
                  <a:lnTo>
                    <a:pt x="2104885" y="0"/>
                  </a:lnTo>
                  <a:lnTo>
                    <a:pt x="2104885" y="1476929"/>
                  </a:lnTo>
                  <a:lnTo>
                    <a:pt x="0" y="14769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59755" l="0" r="-2144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2D38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43a6fa99a_1_5"/>
          <p:cNvSpPr/>
          <p:nvPr/>
        </p:nvSpPr>
        <p:spPr>
          <a:xfrm rot="-5494514">
            <a:off x="14254763" y="260848"/>
            <a:ext cx="4236264" cy="4506663"/>
          </a:xfrm>
          <a:custGeom>
            <a:rect b="b" l="l" r="r" t="t"/>
            <a:pathLst>
              <a:path extrusionOk="0" h="4504960" w="4234663">
                <a:moveTo>
                  <a:pt x="4234663" y="4504960"/>
                </a:moveTo>
                <a:lnTo>
                  <a:pt x="0" y="4504960"/>
                </a:lnTo>
                <a:lnTo>
                  <a:pt x="0" y="0"/>
                </a:lnTo>
                <a:lnTo>
                  <a:pt x="4234663" y="0"/>
                </a:lnTo>
                <a:lnTo>
                  <a:pt x="4234663" y="4504960"/>
                </a:lnTo>
                <a:close/>
              </a:path>
            </a:pathLst>
          </a:custGeom>
          <a:blipFill rotWithShape="1">
            <a:blip r:embed="rId3">
              <a:alphaModFix amt="6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e43a6fa99a_1_5"/>
          <p:cNvSpPr/>
          <p:nvPr/>
        </p:nvSpPr>
        <p:spPr>
          <a:xfrm rot="-921333">
            <a:off x="14150394" y="7669696"/>
            <a:ext cx="4448038" cy="3174787"/>
          </a:xfrm>
          <a:custGeom>
            <a:rect b="b" l="l" r="r" t="t"/>
            <a:pathLst>
              <a:path extrusionOk="0" h="3172488" w="4444817">
                <a:moveTo>
                  <a:pt x="4444817" y="3172488"/>
                </a:moveTo>
                <a:lnTo>
                  <a:pt x="0" y="3172488"/>
                </a:lnTo>
                <a:lnTo>
                  <a:pt x="0" y="0"/>
                </a:lnTo>
                <a:lnTo>
                  <a:pt x="4444817" y="0"/>
                </a:lnTo>
                <a:lnTo>
                  <a:pt x="4444817" y="317248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e43a6fa99a_1_5"/>
          <p:cNvSpPr/>
          <p:nvPr/>
        </p:nvSpPr>
        <p:spPr>
          <a:xfrm flipH="1" rot="-3667584">
            <a:off x="-1092033" y="914749"/>
            <a:ext cx="5922546" cy="4227217"/>
          </a:xfrm>
          <a:custGeom>
            <a:rect b="b" l="l" r="r" t="t"/>
            <a:pathLst>
              <a:path extrusionOk="0" h="4230537" w="5927197">
                <a:moveTo>
                  <a:pt x="0" y="4230537"/>
                </a:moveTo>
                <a:lnTo>
                  <a:pt x="5927197" y="4230537"/>
                </a:lnTo>
                <a:lnTo>
                  <a:pt x="5927197" y="0"/>
                </a:lnTo>
                <a:lnTo>
                  <a:pt x="0" y="0"/>
                </a:lnTo>
                <a:lnTo>
                  <a:pt x="0" y="4230537"/>
                </a:lnTo>
                <a:close/>
              </a:path>
            </a:pathLst>
          </a:custGeom>
          <a:blipFill rotWithShape="1">
            <a:blip r:embed="rId4">
              <a:alphaModFix amt="71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e43a6fa99a_1_5"/>
          <p:cNvSpPr/>
          <p:nvPr/>
        </p:nvSpPr>
        <p:spPr>
          <a:xfrm rot="5305486">
            <a:off x="-428481" y="5655321"/>
            <a:ext cx="4732219" cy="5034276"/>
          </a:xfrm>
          <a:custGeom>
            <a:rect b="b" l="l" r="r" t="t"/>
            <a:pathLst>
              <a:path extrusionOk="0" h="5032373" w="4730431">
                <a:moveTo>
                  <a:pt x="0" y="0"/>
                </a:moveTo>
                <a:lnTo>
                  <a:pt x="4730430" y="0"/>
                </a:lnTo>
                <a:lnTo>
                  <a:pt x="4730430" y="5032374"/>
                </a:lnTo>
                <a:lnTo>
                  <a:pt x="0" y="5032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e43a6fa99a_1_5"/>
          <p:cNvSpPr txBox="1"/>
          <p:nvPr/>
        </p:nvSpPr>
        <p:spPr>
          <a:xfrm>
            <a:off x="297588" y="981453"/>
            <a:ext cx="7165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rgbClr val="E9E9E9"/>
                </a:solidFill>
                <a:latin typeface="Anton"/>
                <a:ea typeface="Anton"/>
                <a:cs typeface="Anton"/>
                <a:sym typeface="Anton"/>
              </a:rPr>
              <a:t>References</a:t>
            </a:r>
            <a:endParaRPr sz="6900"/>
          </a:p>
        </p:txBody>
      </p:sp>
      <p:sp>
        <p:nvSpPr>
          <p:cNvPr id="336" name="Google Shape;336;g3e43a6fa99a_1_5"/>
          <p:cNvSpPr txBox="1"/>
          <p:nvPr/>
        </p:nvSpPr>
        <p:spPr>
          <a:xfrm>
            <a:off x="297600" y="2371500"/>
            <a:ext cx="17506800" cy="84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900">
                <a:solidFill>
                  <a:schemeClr val="lt1"/>
                </a:solidFill>
              </a:rPr>
              <a:t>AlSerkal, Y. M., Ibrahim, N. M., Alsereidi, A. S., Ibrahim, M., Kurakula, S., Naqvi, S. A., Khan, Y., &amp; Oottumadathil, N. P. (2025). Real-time analytics and AI for managing no-show appointments in primary health care in the United Arab Emirates: Before-and-after study. *JMIR Formative Research, 9*, e64936. https://doi.org/10.2196/64936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900">
                <a:solidFill>
                  <a:schemeClr val="lt1"/>
                </a:solidFill>
              </a:rPr>
              <a:t>Alsaad, L. N., &amp; Sreedharan, J. (2023). Practice of colorectal cancer screening in the United Arab Emirates and factors associated: A cross-sectional study. *BMC Public Health, 23*, 2015. https://doi.org/10.1186/s12889-023-16951-7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900">
                <a:solidFill>
                  <a:schemeClr val="lt1"/>
                </a:solidFill>
              </a:rPr>
              <a:t>Lau, W. Y., Lian, J., &amp; Yap, M. (2025). The effectiveness of interventions used to improve general health check uptake by the older adult population: A systematic review and meta-analysis. *PLOS Global Public Health, 5*(3), e0004362. https://doi.org/10.1371/journal.pgph.0004362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900">
                <a:solidFill>
                  <a:schemeClr val="lt1"/>
                </a:solidFill>
              </a:rPr>
              <a:t>Ahmed, H. A. A., Abbas, M. H., Hussein, H. A., Nasr, R. S. F., Lashen, A. A., Khaled, H., &amp; Azzam, A. (2024). Cervical cancer screening uptake in Arab countries: A systematic review with meta-analysis. *BMC Cancer, 24*, 1438. https://doi.org/10.1186/s12885-024-13204-7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900">
                <a:solidFill>
                  <a:schemeClr val="lt1"/>
                </a:solidFill>
              </a:rPr>
              <a:t>Hajat, C., &amp; Harrison, O. (2012). Weqaya: A population-wide cardiovascular screening program in Abu Dhabi, United Arab Emirates. *American Journal of Public Health, 102*(5), 909–914. https://doi.org/10.2105/AJPH.2011.300290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900">
                <a:solidFill>
                  <a:schemeClr val="lt1"/>
                </a:solidFill>
              </a:rPr>
              <a:t>Youssef, A. (2014). Use of short message service reminders to improve attendance at an internal medicine outpatient clinic in Saudi Arabia: A randomized controlled trial. *Eastern Mediterranean Health Journal, 20*(5), 317–323.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900">
                <a:solidFill>
                  <a:schemeClr val="lt1"/>
                </a:solidFill>
              </a:rPr>
              <a:t>Aziz, A., AlShammari, M., Alasmari, S., Alotaibi, N., Alhamdan, H., Alhammad, N., Alwhaibi, M., Alshammari, T., &amp; Aljadhey, H. (2020). Use of Google Trends to monitor COVID-19 public interest and behavior in the Gulf Cooperation Council countries: Exploratory infodemiology study. *JMIR Public Health and Surveillance, 6*(2), e18818. https://doi.org/10.2196/18818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37" name="Google Shape;337;g3e43a6fa99a_1_5"/>
          <p:cNvGrpSpPr/>
          <p:nvPr/>
        </p:nvGrpSpPr>
        <p:grpSpPr>
          <a:xfrm>
            <a:off x="-103858" y="-393937"/>
            <a:ext cx="18496097" cy="1364884"/>
            <a:chOff x="0" y="-289322"/>
            <a:chExt cx="24661463" cy="1819845"/>
          </a:xfrm>
        </p:grpSpPr>
        <p:grpSp>
          <p:nvGrpSpPr>
            <p:cNvPr id="338" name="Google Shape;338;g3e43a6fa99a_1_5"/>
            <p:cNvGrpSpPr/>
            <p:nvPr/>
          </p:nvGrpSpPr>
          <p:grpSpPr>
            <a:xfrm>
              <a:off x="0" y="-289322"/>
              <a:ext cx="24661463" cy="1722642"/>
              <a:chOff x="0" y="-57150"/>
              <a:chExt cx="4871400" cy="340275"/>
            </a:xfrm>
          </p:grpSpPr>
          <p:sp>
            <p:nvSpPr>
              <p:cNvPr id="339" name="Google Shape;339;g3e43a6fa99a_1_5"/>
              <p:cNvSpPr/>
              <p:nvPr/>
            </p:nvSpPr>
            <p:spPr>
              <a:xfrm>
                <a:off x="0" y="0"/>
                <a:ext cx="4871300" cy="283125"/>
              </a:xfrm>
              <a:custGeom>
                <a:rect b="b" l="l" r="r" t="t"/>
                <a:pathLst>
                  <a:path extrusionOk="0" h="283125" w="4871300">
                    <a:moveTo>
                      <a:pt x="0" y="0"/>
                    </a:moveTo>
                    <a:lnTo>
                      <a:pt x="4871300" y="0"/>
                    </a:lnTo>
                    <a:lnTo>
                      <a:pt x="4871300" y="283125"/>
                    </a:lnTo>
                    <a:lnTo>
                      <a:pt x="0" y="283125"/>
                    </a:lnTo>
                    <a:close/>
                  </a:path>
                </a:pathLst>
              </a:custGeom>
              <a:solidFill>
                <a:srgbClr val="909EA8"/>
              </a:solidFill>
              <a:ln cap="sq" cmpd="sng" w="38100">
                <a:solidFill>
                  <a:srgbClr val="9AA5A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g3e43a6fa99a_1_5"/>
              <p:cNvSpPr txBox="1"/>
              <p:nvPr/>
            </p:nvSpPr>
            <p:spPr>
              <a:xfrm>
                <a:off x="0" y="-57150"/>
                <a:ext cx="4871400" cy="34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525" lIns="47525" spcFirstLastPara="1" rIns="47525" wrap="square" tIns="47525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1" name="Google Shape;341;g3e43a6fa99a_1_5"/>
            <p:cNvSpPr/>
            <p:nvPr/>
          </p:nvSpPr>
          <p:spPr>
            <a:xfrm>
              <a:off x="347882" y="187611"/>
              <a:ext cx="3323582" cy="1342912"/>
            </a:xfrm>
            <a:custGeom>
              <a:rect b="b" l="l" r="r" t="t"/>
              <a:pathLst>
                <a:path extrusionOk="0" h="1342912" w="3323582">
                  <a:moveTo>
                    <a:pt x="0" y="0"/>
                  </a:moveTo>
                  <a:lnTo>
                    <a:pt x="3323583" y="0"/>
                  </a:lnTo>
                  <a:lnTo>
                    <a:pt x="3323583" y="1342912"/>
                  </a:lnTo>
                  <a:lnTo>
                    <a:pt x="0" y="13429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82402" l="0" r="0" t="-7462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g3e43a6fa99a_1_5"/>
            <p:cNvSpPr/>
            <p:nvPr/>
          </p:nvSpPr>
          <p:spPr>
            <a:xfrm>
              <a:off x="20675218" y="372679"/>
              <a:ext cx="2912513" cy="1060640"/>
            </a:xfrm>
            <a:custGeom>
              <a:rect b="b" l="l" r="r" t="t"/>
              <a:pathLst>
                <a:path extrusionOk="0" h="1060640" w="2912513">
                  <a:moveTo>
                    <a:pt x="0" y="0"/>
                  </a:moveTo>
                  <a:lnTo>
                    <a:pt x="2912514" y="0"/>
                  </a:lnTo>
                  <a:lnTo>
                    <a:pt x="2912514" y="1060640"/>
                  </a:lnTo>
                  <a:lnTo>
                    <a:pt x="0" y="10606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g3e43a6fa99a_1_5"/>
            <p:cNvSpPr/>
            <p:nvPr/>
          </p:nvSpPr>
          <p:spPr>
            <a:xfrm>
              <a:off x="11495590" y="321598"/>
              <a:ext cx="4143714" cy="1102456"/>
            </a:xfrm>
            <a:custGeom>
              <a:rect b="b" l="l" r="r" t="t"/>
              <a:pathLst>
                <a:path extrusionOk="0" h="1102456" w="4143714">
                  <a:moveTo>
                    <a:pt x="0" y="0"/>
                  </a:moveTo>
                  <a:lnTo>
                    <a:pt x="4143714" y="0"/>
                  </a:lnTo>
                  <a:lnTo>
                    <a:pt x="4143714" y="1102456"/>
                  </a:lnTo>
                  <a:lnTo>
                    <a:pt x="0" y="11024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11939" l="-5746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g3e43a6fa99a_1_5"/>
            <p:cNvSpPr/>
            <p:nvPr/>
          </p:nvSpPr>
          <p:spPr>
            <a:xfrm>
              <a:off x="9390705" y="53594"/>
              <a:ext cx="2104885" cy="1476929"/>
            </a:xfrm>
            <a:custGeom>
              <a:rect b="b" l="l" r="r" t="t"/>
              <a:pathLst>
                <a:path extrusionOk="0" h="1476929" w="2104885">
                  <a:moveTo>
                    <a:pt x="0" y="0"/>
                  </a:moveTo>
                  <a:lnTo>
                    <a:pt x="2104885" y="0"/>
                  </a:lnTo>
                  <a:lnTo>
                    <a:pt x="2104885" y="1476929"/>
                  </a:lnTo>
                  <a:lnTo>
                    <a:pt x="0" y="14769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59750" l="0" r="-2144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